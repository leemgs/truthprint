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6576000" cy="27432000"/>
  <p:notesSz cx="27432000" cy="365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Full-payload recovery (%)</c:v>
                </c:pt>
              </c:strCache>
            </c:strRef>
          </c:tx>
          <c:spPr>
            <a:solidFill>
              <a:srgbClr val="12A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43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30%</c:v>
                  </c:pt>
                  <c:pt idx="1">
                    <c:v>40%</c:v>
                  </c:pt>
                  <c:pt idx="2">
                    <c:v>42%</c:v>
                  </c:pt>
                  <c:pt idx="3">
                    <c:v>44%</c:v>
                  </c:pt>
                  <c:pt idx="4">
                    <c:v>46%</c:v>
                  </c:pt>
                  <c:pt idx="5">
                    <c:v>48%</c:v>
                  </c:pt>
                  <c:pt idx="6">
                    <c:v>50%</c:v>
                  </c:pt>
                  <c:pt idx="7">
                    <c:v>52%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99.8</c:v>
                </c:pt>
                <c:pt idx="3">
                  <c:v>98.2</c:v>
                </c:pt>
                <c:pt idx="4">
                  <c:v>95</c:v>
                </c:pt>
                <c:pt idx="5">
                  <c:v>77.4</c:v>
                </c:pt>
                <c:pt idx="6">
                  <c:v>29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43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0" cy="42976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77240"/>
            <a:ext cx="78638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7132320" cy="2167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0" y="502920"/>
            <a:ext cx="2670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Truthprint: An Invariant-Constrained Semantic Intermediate Representation for Translation- and Paraphrase-Robust Provenance Watermarking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0" y="2971800"/>
            <a:ext cx="2670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Geunsik Lim</a:t>
            </a:r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leemgs@gmail.com   ·   github.com/leemgs/truthprint   ·   Reference implementation: MIT, Python stdlib only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26060400"/>
            <a:ext cx="36576000" cy="1371600"/>
          </a:xfrm>
          <a:prstGeom prst="rect">
            <a:avLst/>
          </a:prstGeom>
          <a:solidFill>
            <a:srgbClr val="13243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060400"/>
            <a:ext cx="3511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the meaning, prove the origin.”   </a:t>
            </a:r>
            <a:pPr algn="ctr" indent="0" marL="0">
              <a:buNone/>
            </a:pPr>
            <a:r>
              <a:rPr lang="en-US" sz="2300" dirty="0">
                <a:solidFill>
                  <a:srgbClr val="B9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translation &amp; paraphrase  ·  unforgeable (HMAC)  ·  FPR ≤ 2⁻ᵗᵃᵘ  ·  fully reproducible: </a:t>
            </a:r>
            <a:pPr algn="ctr" indent="0" marL="0">
              <a:buNone/>
            </a:pPr>
            <a:r>
              <a:rPr lang="en-US" sz="2000" dirty="0">
                <a:solidFill>
                  <a:srgbClr val="8FD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github.com/leemgs/truthprint &amp;&amp; cd code &amp;&amp; pip install -e ".[dev]" &amp;&amp; truthprint selftest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731520" y="4892040"/>
            <a:ext cx="11338560" cy="557784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4300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Provenance is now a compliance property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188720" y="594360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(2024/1689) Art. 50: synthetic text must carry a machine-readable, detectable mark — enforceable Aug 2026.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unattributed synthetic text degrades models across generations (“model collapse”, Nature 2024).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watermarks (SynthID-Text, KGW) live in surface token choices → translation &amp; paraphrase erase them.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 that is machine-readable but trivially erased misses the regulatory intent: robustness is the requirement.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731520" y="10835640"/>
            <a:ext cx="11338560" cy="859536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43000" y="11064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Key idea: watermark the meaning, not the tokens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143000" y="119329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FDF1F0"/>
          </a:solidFill>
          <a:ln w="12700">
            <a:solidFill>
              <a:srgbClr val="F2D9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19329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EEFAF6"/>
          </a:solidFill>
          <a:ln w="12700">
            <a:solidFill>
              <a:srgbClr val="CDEE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17320" y="1211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— semantic invariants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812280" y="1211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— carriers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417320" y="128016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predicates · roles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· quantity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· modality · causality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/ quotation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812280" y="128016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(active/passive)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constituent order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packaging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variation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143000" y="170078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secret-keyed map assigns authenticated payload symbols to admissible realization classes. </a:t>
            </a:r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Meaning-preserving transforms keep the signal; meaning-changing ones break the MAC.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31520" y="19796760"/>
            <a:ext cx="11338560" cy="5760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43000" y="20025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Worked example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1143000" y="20848320"/>
            <a:ext cx="10515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the previous day, the server error was fixed by the developer.”
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Locked: FIX(agent=developer, patient=server_error), positive, previous_day. 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Carriers: voice ∈ {active, passive}, time-phrase ∈ {front, end}.
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canonicalizes voice → that carrier becomes an erasure, not a wrong bit; ECC recovers the payload from surviving carriers. Inserting “not” flips a locked field → digest changes → MAC fails.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2618720" y="4892040"/>
            <a:ext cx="11338560" cy="758952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303020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Encoding &amp; detection pipeline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13030200" y="60167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3030200" y="6583680"/>
            <a:ext cx="2340864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030200" y="6583680"/>
            <a:ext cx="23408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I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5316200" y="658368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5755112" y="6583680"/>
            <a:ext cx="2340864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755112" y="6583680"/>
            <a:ext cx="23408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m ‖ MAC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8041112" y="658368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8480024" y="6583680"/>
            <a:ext cx="2340864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8480024" y="6583680"/>
            <a:ext cx="23408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encode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(spread)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20766024" y="658368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21204936" y="6583680"/>
            <a:ext cx="2340864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1204936" y="6583680"/>
            <a:ext cx="23408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carriers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validate → y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13030200" y="83941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13030200" y="8961120"/>
            <a:ext cx="1795882" cy="1417320"/>
          </a:xfrm>
          <a:prstGeom prst="roundRect">
            <a:avLst>
              <a:gd name="adj" fmla="val 5161"/>
            </a:avLst>
          </a:prstGeom>
          <a:solidFill>
            <a:srgbClr val="EEFAF6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3030200" y="8961120"/>
            <a:ext cx="179588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I′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14771218" y="896112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5210130" y="8961120"/>
            <a:ext cx="1795882" cy="1417320"/>
          </a:xfrm>
          <a:prstGeom prst="roundRect">
            <a:avLst>
              <a:gd name="adj" fmla="val 5161"/>
            </a:avLst>
          </a:prstGeom>
          <a:solidFill>
            <a:srgbClr val="EEFAF6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5210130" y="8961120"/>
            <a:ext cx="179588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h_I′</a:t>
            </a:r>
            <a:endParaRPr lang="en-US" sz="1650" dirty="0"/>
          </a:p>
        </p:txBody>
      </p:sp>
      <p:sp>
        <p:nvSpPr>
          <p:cNvPr id="44" name="Text 41"/>
          <p:cNvSpPr/>
          <p:nvPr/>
        </p:nvSpPr>
        <p:spPr>
          <a:xfrm>
            <a:off x="16951147" y="896112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17390059" y="8961120"/>
            <a:ext cx="1795882" cy="1417320"/>
          </a:xfrm>
          <a:prstGeom prst="roundRect">
            <a:avLst>
              <a:gd name="adj" fmla="val 5161"/>
            </a:avLst>
          </a:prstGeom>
          <a:solidFill>
            <a:srgbClr val="EEFAF6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7390059" y="8961120"/>
            <a:ext cx="179588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map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(erasures)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9131077" y="896112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9569989" y="8961120"/>
            <a:ext cx="1795882" cy="1417320"/>
          </a:xfrm>
          <a:prstGeom prst="roundRect">
            <a:avLst>
              <a:gd name="adj" fmla="val 5161"/>
            </a:avLst>
          </a:prstGeom>
          <a:solidFill>
            <a:srgbClr val="EEFAF6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9569989" y="8961120"/>
            <a:ext cx="179588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decode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</a:t>
            </a:r>
            <a:endParaRPr lang="en-US" sz="1650" dirty="0"/>
          </a:p>
        </p:txBody>
      </p:sp>
      <p:sp>
        <p:nvSpPr>
          <p:cNvPr id="50" name="Text 47"/>
          <p:cNvSpPr/>
          <p:nvPr/>
        </p:nvSpPr>
        <p:spPr>
          <a:xfrm>
            <a:off x="21311006" y="8961120"/>
            <a:ext cx="49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21749918" y="8961120"/>
            <a:ext cx="1795882" cy="1417320"/>
          </a:xfrm>
          <a:prstGeom prst="roundRect">
            <a:avLst>
              <a:gd name="adj" fmla="val 5161"/>
            </a:avLst>
          </a:prstGeom>
          <a:solidFill>
            <a:srgbClr val="EEFAF6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749918" y="8961120"/>
            <a:ext cx="179588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MAC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attribute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13030200" y="10789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digest h_I binds the payload: </a:t>
            </a:r>
            <a:pPr indent="0" marL="0">
              <a:buNone/>
            </a:pPr>
            <a:r>
              <a:rPr lang="en-US" sz="20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altering locked meaning changes h_I and fails verification — forgery and false attribution reduce to MAC security.</a:t>
            </a:r>
            <a:endParaRPr lang="en-US" sz="2000" dirty="0"/>
          </a:p>
        </p:txBody>
      </p:sp>
      <p:sp>
        <p:nvSpPr>
          <p:cNvPr id="54" name="Shape 51"/>
          <p:cNvSpPr/>
          <p:nvPr/>
        </p:nvSpPr>
        <p:spPr>
          <a:xfrm>
            <a:off x="12618720" y="12847320"/>
            <a:ext cx="11338560" cy="621792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13030200" y="13075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Formal guarantees</a:t>
            </a:r>
            <a:endParaRPr lang="en-US" sz="3000" dirty="0"/>
          </a:p>
        </p:txBody>
      </p:sp>
      <p:sp>
        <p:nvSpPr>
          <p:cNvPr id="56" name="Shape 53"/>
          <p:cNvSpPr/>
          <p:nvPr/>
        </p:nvSpPr>
        <p:spPr>
          <a:xfrm>
            <a:off x="13030200" y="138988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3258800" y="1403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Semantic fidelity by construction
</a:t>
            </a:r>
            <a:pPr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Watermarking never alters locked meaning; carriers without a valid realization become erasures (Prop. 1).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18425160" y="138988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8653760" y="1403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  Unforgeability
</a:t>
            </a:r>
            <a:pPr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Forging attribution reduces to forging HMAC-SHA256 (EUF-CMA), Thm. 1.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13030200" y="163677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3258800" y="165049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  False-positive bound
</a:t>
            </a:r>
            <a:pPr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FPR ≤ 2⁻ᵗᵃᵘ — a design constant, not a tuned threshold (Thm. 2).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18425160" y="163677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12700">
            <a:solidFill>
              <a:srgbClr val="E3EB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8653760" y="165049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  Capacity / recovery cliff
</a:t>
            </a:r>
            <a:pPr indent="0" marL="0">
              <a:buNone/>
            </a:pPr>
            <a:r>
              <a:rPr lang="en-US" sz="165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Erasure-channel model predicts minimum reliable length and a cliff at the code rate (Prop. 2).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2618720" y="19431000"/>
            <a:ext cx="11338560" cy="612648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13030200" y="19659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Measured recovery cliff  (rate-½ GF(2) code, 500 trials/point)</a:t>
            </a:r>
            <a:endParaRPr lang="en-US" sz="30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13030200" y="20574000"/>
          <a:ext cx="10515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7" name="Text 63"/>
          <p:cNvSpPr/>
          <p:nvPr/>
        </p:nvSpPr>
        <p:spPr>
          <a:xfrm>
            <a:off x="13030200" y="2450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recovery to 42% erasure; graceful transition (98% at 44%, 77% at 48%, 29% at 50%) then collapse at ε ≈ 1 − R = 0.5 — the predicted capacity cliff.</a:t>
            </a:r>
            <a:endParaRPr lang="en-US" sz="1600" dirty="0"/>
          </a:p>
        </p:txBody>
      </p:sp>
      <p:sp>
        <p:nvSpPr>
          <p:cNvPr id="68" name="Shape 64"/>
          <p:cNvSpPr/>
          <p:nvPr/>
        </p:nvSpPr>
        <p:spPr>
          <a:xfrm>
            <a:off x="24505920" y="4892040"/>
            <a:ext cx="11338560" cy="786384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69" name="Text 65"/>
          <p:cNvSpPr/>
          <p:nvPr/>
        </p:nvSpPr>
        <p:spPr>
          <a:xfrm>
            <a:off x="2491740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Verified implementation results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917400" y="5989320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9611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behavior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payload recovery + valid MAC with 28/96 carriers erased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Flipping a locked field (polarity) breaks attribution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20,000 false positives at τ = 32  (bound 2.3×10⁻¹⁰)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Keyed map is invariant-bound: 43/96 options differ across documents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L1–L3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Sentence-string round-trip: fidelity, recovery (19/64 erased), tamper detection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18/18 unit tests pass; selftest doubles as regression harness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Shape 66"/>
          <p:cNvSpPr/>
          <p:nvPr/>
        </p:nvSpPr>
        <p:spPr>
          <a:xfrm>
            <a:off x="24505920" y="13121640"/>
            <a:ext cx="11338560" cy="6858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72" name="Text 67"/>
          <p:cNvSpPr/>
          <p:nvPr/>
        </p:nvSpPr>
        <p:spPr>
          <a:xfrm>
            <a:off x="24917400" y="13350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Measured translation robustness vs. baselines</a:t>
            </a:r>
            <a:endParaRPr lang="en-US" sz="3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917400" y="14218920"/>
          <a:ext cx="10515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114800"/>
                <a:gridCol w="2560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layer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TPR↓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SynthID-Text/KGW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identity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5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edit-aligned token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5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SemStamp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embedding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2A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 / meaning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2A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2A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Truthprint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3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 + MAC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2A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✓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Text 68"/>
          <p:cNvSpPr/>
          <p:nvPr/>
        </p:nvSpPr>
        <p:spPr>
          <a:xfrm>
            <a:off x="24917400" y="18928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EN→KO, TPR @ 1% FPR, shared Stage-1 channel. </a:t>
            </a:r>
            <a:pPr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marks collapse; semantic-layer marks survive — </a:t>
            </a:r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Truthprint also authenticates (MAC).</a:t>
            </a:r>
            <a:endParaRPr lang="en-US" sz="1500" dirty="0"/>
          </a:p>
        </p:txBody>
      </p:sp>
      <p:sp>
        <p:nvSpPr>
          <p:cNvPr id="75" name="Shape 69"/>
          <p:cNvSpPr/>
          <p:nvPr/>
        </p:nvSpPr>
        <p:spPr>
          <a:xfrm>
            <a:off x="24505920" y="20162520"/>
            <a:ext cx="11338560" cy="53949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9050">
            <a:solidFill>
              <a:srgbClr val="E3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B0C0">
                <a:alpha val="35000"/>
              </a:srgbClr>
            </a:outerShdw>
          </a:effectLst>
        </p:spPr>
      </p:sp>
      <p:sp>
        <p:nvSpPr>
          <p:cNvPr id="76" name="Text 70"/>
          <p:cNvSpPr/>
          <p:nvPr/>
        </p:nvSpPr>
        <p:spPr>
          <a:xfrm>
            <a:off x="24917400" y="20391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· Deployment path &amp; open problems</a:t>
            </a:r>
            <a:endParaRPr lang="en-US" sz="3000" dirty="0"/>
          </a:p>
        </p:txBody>
      </p:sp>
      <p:sp>
        <p:nvSpPr>
          <p:cNvPr id="77" name="Text 71"/>
          <p:cNvSpPr/>
          <p:nvPr/>
        </p:nvSpPr>
        <p:spPr>
          <a:xfrm>
            <a:off x="24963120" y="21214080"/>
            <a:ext cx="10424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realization pass or asynchronous post-generation service — no sampler changes; crypto/coding layers are LLM-size independent.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low-capacity spans (code, quotes) → erasures, with layered fallback to token watermarks.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wide-coverage multilingual semantic parsing; multilingual/adversarial evaluation protocol is specified in the paper.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2026-07-24T07:53:32Z</dcterms:created>
  <dcterms:modified xsi:type="dcterms:W3CDTF">2026-07-24T07:53:32Z</dcterms:modified>
</cp:coreProperties>
</file>