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6576000" cy="27432000"/>
  <p:notesSz cx="27432000" cy="3657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Full-payload recovery (%)</c:v>
                </c:pt>
              </c:strCache>
            </c:strRef>
          </c:tx>
          <c:spPr>
            <a:solidFill>
              <a:srgbClr val="12A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433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10%</c:v>
                  </c:pt>
                  <c:pt idx="1">
                    <c:v>20%</c:v>
                  </c:pt>
                  <c:pt idx="2">
                    <c:v>30%</c:v>
                  </c:pt>
                  <c:pt idx="3">
                    <c:v>40%</c:v>
                  </c:pt>
                  <c:pt idx="4">
                    <c:v>50%</c:v>
                  </c:pt>
                  <c:pt idx="5">
                    <c:v>55%</c:v>
                  </c:pt>
                  <c:pt idx="6">
                    <c:v>60%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25.8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2433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5B6B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E3EB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B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0" cy="429768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777240"/>
            <a:ext cx="78638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234440"/>
            <a:ext cx="7132320" cy="2167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0" y="502920"/>
            <a:ext cx="2670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Truthprint: An Invariant-Constrained Semantic Intermediate Representation for Translation- and Paraphrase-Robust Provenance Watermarking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9144000" y="2971800"/>
            <a:ext cx="2670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Geunsik Lim</a:t>
            </a:r>
            <a:pPr algn="l"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leemgs@gmail.com   ·   github.com/leemgs/truthprint   ·   Reference implementation: MIT, Python stdlib only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0" y="26060400"/>
            <a:ext cx="36576000" cy="1371600"/>
          </a:xfrm>
          <a:prstGeom prst="rect">
            <a:avLst/>
          </a:prstGeom>
          <a:solidFill>
            <a:srgbClr val="13243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060400"/>
            <a:ext cx="35112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“Keep the meaning, prove the origin.”   </a:t>
            </a:r>
            <a:pPr algn="ctr" indent="0" marL="0">
              <a:buNone/>
            </a:pPr>
            <a:r>
              <a:rPr lang="en-US" sz="2300" dirty="0">
                <a:solidFill>
                  <a:srgbClr val="B9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to translation &amp; paraphrase  ·  unforgeable (HMAC)  ·  FPR ≤ 2⁻ᵗᵃᵘ  ·  fully reproducible: </a:t>
            </a:r>
            <a:pPr algn="ctr" indent="0" marL="0">
              <a:buNone/>
            </a:pPr>
            <a:r>
              <a:rPr lang="en-US" sz="2000" dirty="0">
                <a:solidFill>
                  <a:srgbClr val="8FD8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github.com/leemgs/truthprint &amp;&amp; cd code &amp;&amp; pip install -e ".[dev]" &amp;&amp; truthprint selftest</a:t>
            </a:r>
            <a:endParaRPr lang="en-US" sz="2300" dirty="0"/>
          </a:p>
        </p:txBody>
      </p:sp>
      <p:sp>
        <p:nvSpPr>
          <p:cNvPr id="9" name="Shape 6"/>
          <p:cNvSpPr/>
          <p:nvPr/>
        </p:nvSpPr>
        <p:spPr>
          <a:xfrm>
            <a:off x="731520" y="4892040"/>
            <a:ext cx="11338560" cy="557784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19050">
            <a:solidFill>
              <a:srgbClr val="E3EBF0"/>
            </a:solidFill>
            <a:prstDash val="solid"/>
          </a:ln>
          <a:effectLst>
            <a:outerShdw sx="100000" sy="100000" kx="0" ky="0" algn="bl" rotWithShape="0" blurRad="101600" dist="38100" dir="5400000">
              <a:srgbClr val="9AB0C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143000" y="51206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Provenance is now a compliance property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1188720" y="5943600"/>
            <a:ext cx="10424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(2024/1689) Art. 50: synthetic text must carry a machine-readable, detectable mark — enforceable Aug 2026.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on unattributed synthetic text degrades models across generations (“model collapse”, Nature 2024).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Token-level watermarks (SynthID-Text, KGW) live in surface token choices → translation &amp; paraphrase erase them.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b="1" dirty="0">
                <a:solidFill>
                  <a:srgbClr val="C05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 that is machine-readable but trivially erased misses the regulatory intent: robustness is the requirement.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731520" y="10835640"/>
            <a:ext cx="11338560" cy="8595360"/>
          </a:xfrm>
          <a:prstGeom prst="roundRect">
            <a:avLst>
              <a:gd name="adj" fmla="val 1489"/>
            </a:avLst>
          </a:prstGeom>
          <a:solidFill>
            <a:srgbClr val="FFFFFF"/>
          </a:solidFill>
          <a:ln w="19050">
            <a:solidFill>
              <a:srgbClr val="E3EBF0"/>
            </a:solidFill>
            <a:prstDash val="solid"/>
          </a:ln>
          <a:effectLst>
            <a:outerShdw sx="100000" sy="100000" kx="0" ky="0" algn="bl" rotWithShape="0" blurRad="101600" dist="38100" dir="5400000">
              <a:srgbClr val="9AB0C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1143000" y="11064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Key idea: watermark the meaning, not the tokens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1143000" y="11932920"/>
            <a:ext cx="5120640" cy="4846320"/>
          </a:xfrm>
          <a:prstGeom prst="roundRect">
            <a:avLst>
              <a:gd name="adj" fmla="val 1887"/>
            </a:avLst>
          </a:prstGeom>
          <a:solidFill>
            <a:srgbClr val="FDF1F0"/>
          </a:solidFill>
          <a:ln w="12700">
            <a:solidFill>
              <a:srgbClr val="F2D9D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37960" y="11932920"/>
            <a:ext cx="5120640" cy="4846320"/>
          </a:xfrm>
          <a:prstGeom prst="roundRect">
            <a:avLst>
              <a:gd name="adj" fmla="val 1887"/>
            </a:avLst>
          </a:prstGeom>
          <a:solidFill>
            <a:srgbClr val="EEFAF6"/>
          </a:solidFill>
          <a:ln w="12700">
            <a:solidFill>
              <a:srgbClr val="CDEEE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417320" y="12115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5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— semantic invariants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6812280" y="12115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A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carriers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1417320" y="128016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· predicates · roles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· quantity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· modality · causality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/ quotation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812280" y="128016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(active/passive)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constituent order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 packaging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lexical variation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1143000" y="1700784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secret-keyed map assigns authenticated payload symbols to admissible realization classes. </a:t>
            </a:r>
            <a:pPr indent="0" marL="0">
              <a:buNone/>
            </a:pPr>
            <a:r>
              <a:rPr lang="en-US" sz="200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Meaning-preserving transforms keep the signal; meaning-changing ones break the MAC.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731520" y="19796760"/>
            <a:ext cx="11338560" cy="57607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9050">
            <a:solidFill>
              <a:srgbClr val="E3EBF0"/>
            </a:solidFill>
            <a:prstDash val="solid"/>
          </a:ln>
          <a:effectLst>
            <a:outerShdw sx="100000" sy="100000" kx="0" ky="0" algn="bl" rotWithShape="0" blurRad="101600" dist="38100" dir="5400000">
              <a:srgbClr val="9AB0C0">
                <a:alpha val="35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1143000" y="200253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Worked example</a:t>
            </a:r>
            <a:endParaRPr lang="en-US" sz="3000" dirty="0"/>
          </a:p>
        </p:txBody>
      </p:sp>
      <p:sp>
        <p:nvSpPr>
          <p:cNvPr id="23" name="Text 20"/>
          <p:cNvSpPr/>
          <p:nvPr/>
        </p:nvSpPr>
        <p:spPr>
          <a:xfrm>
            <a:off x="1143000" y="20848320"/>
            <a:ext cx="105156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i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 the previous day, the server error was fixed by the developer.”
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Locked: FIX(agent=developer, patient=server_error), positive, previous_day.  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Carriers: voice ∈ {active, passive}, time-phrase ∈ {front, end}.
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canonicalizes voice → that carrier becomes an erasure, not a wrong bit; ECC recovers the payload from surviving carriers. Inserting “not” flips a locked field → digest changes → MAC fails.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12618720" y="4892040"/>
            <a:ext cx="11338560" cy="7589520"/>
          </a:xfrm>
          <a:prstGeom prst="roundRect">
            <a:avLst>
              <a:gd name="adj" fmla="val 1687"/>
            </a:avLst>
          </a:prstGeom>
          <a:solidFill>
            <a:srgbClr val="FFFFFF"/>
          </a:solidFill>
          <a:ln w="19050">
            <a:solidFill>
              <a:srgbClr val="E3EBF0"/>
            </a:solidFill>
            <a:prstDash val="solid"/>
          </a:ln>
          <a:effectLst>
            <a:outerShdw sx="100000" sy="100000" kx="0" ky="0" algn="bl" rotWithShape="0" blurRad="101600" dist="38100" dir="5400000">
              <a:srgbClr val="9AB0C0">
                <a:alpha val="35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3030200" y="51206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Encoding &amp; detection pipeline</a:t>
            </a:r>
            <a:endParaRPr lang="en-US" sz="3000" dirty="0"/>
          </a:p>
        </p:txBody>
      </p:sp>
      <p:sp>
        <p:nvSpPr>
          <p:cNvPr id="26" name="Text 23"/>
          <p:cNvSpPr/>
          <p:nvPr/>
        </p:nvSpPr>
        <p:spPr>
          <a:xfrm>
            <a:off x="13030200" y="601675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13030200" y="6583680"/>
            <a:ext cx="2340864" cy="1417320"/>
          </a:xfrm>
          <a:prstGeom prst="roundRect">
            <a:avLst>
              <a:gd name="adj" fmla="val 5161"/>
            </a:avLst>
          </a:prstGeom>
          <a:solidFill>
            <a:srgbClr val="EAF1F8"/>
          </a:solidFill>
          <a:ln w="12700">
            <a:solidFill>
              <a:srgbClr val="E3EB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3030200" y="6583680"/>
            <a:ext cx="2340864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invariants I</a:t>
            </a:r>
            <a:endParaRPr lang="en-US" sz="1650" dirty="0"/>
          </a:p>
        </p:txBody>
      </p:sp>
      <p:sp>
        <p:nvSpPr>
          <p:cNvPr id="29" name="Text 26"/>
          <p:cNvSpPr/>
          <p:nvPr/>
        </p:nvSpPr>
        <p:spPr>
          <a:xfrm>
            <a:off x="15316200" y="6583680"/>
            <a:ext cx="4937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15755112" y="6583680"/>
            <a:ext cx="2340864" cy="1417320"/>
          </a:xfrm>
          <a:prstGeom prst="roundRect">
            <a:avLst>
              <a:gd name="adj" fmla="val 5161"/>
            </a:avLst>
          </a:prstGeom>
          <a:solidFill>
            <a:srgbClr val="EAF1F8"/>
          </a:solidFill>
          <a:ln w="12700">
            <a:solidFill>
              <a:srgbClr val="E3EBF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5755112" y="6583680"/>
            <a:ext cx="2340864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m ‖ MAC</a:t>
            </a:r>
            <a:endParaRPr lang="en-US" sz="1650" dirty="0"/>
          </a:p>
        </p:txBody>
      </p:sp>
      <p:sp>
        <p:nvSpPr>
          <p:cNvPr id="32" name="Text 29"/>
          <p:cNvSpPr/>
          <p:nvPr/>
        </p:nvSpPr>
        <p:spPr>
          <a:xfrm>
            <a:off x="18041112" y="6583680"/>
            <a:ext cx="4937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18480024" y="6583680"/>
            <a:ext cx="2340864" cy="1417320"/>
          </a:xfrm>
          <a:prstGeom prst="roundRect">
            <a:avLst>
              <a:gd name="adj" fmla="val 5161"/>
            </a:avLst>
          </a:prstGeom>
          <a:solidFill>
            <a:srgbClr val="EAF1F8"/>
          </a:solidFill>
          <a:ln w="12700">
            <a:solidFill>
              <a:srgbClr val="E3EBF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8480024" y="6583680"/>
            <a:ext cx="2340864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 encode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(spread)</a:t>
            </a:r>
            <a:endParaRPr lang="en-US" sz="1650" dirty="0"/>
          </a:p>
        </p:txBody>
      </p:sp>
      <p:sp>
        <p:nvSpPr>
          <p:cNvPr id="35" name="Text 32"/>
          <p:cNvSpPr/>
          <p:nvPr/>
        </p:nvSpPr>
        <p:spPr>
          <a:xfrm>
            <a:off x="20766024" y="6583680"/>
            <a:ext cx="4937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21204936" y="6583680"/>
            <a:ext cx="2340864" cy="1417320"/>
          </a:xfrm>
          <a:prstGeom prst="roundRect">
            <a:avLst>
              <a:gd name="adj" fmla="val 5161"/>
            </a:avLst>
          </a:prstGeom>
          <a:solidFill>
            <a:srgbClr val="EAF1F8"/>
          </a:solidFill>
          <a:ln w="12700">
            <a:solidFill>
              <a:srgbClr val="E3EBF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21204936" y="6583680"/>
            <a:ext cx="2340864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carriers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validate → y</a:t>
            </a:r>
            <a:endParaRPr lang="en-US" sz="1650" dirty="0"/>
          </a:p>
        </p:txBody>
      </p:sp>
      <p:sp>
        <p:nvSpPr>
          <p:cNvPr id="38" name="Text 35"/>
          <p:cNvSpPr/>
          <p:nvPr/>
        </p:nvSpPr>
        <p:spPr>
          <a:xfrm>
            <a:off x="13030200" y="839419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13030200" y="8961120"/>
            <a:ext cx="1795882" cy="1417320"/>
          </a:xfrm>
          <a:prstGeom prst="roundRect">
            <a:avLst>
              <a:gd name="adj" fmla="val 5161"/>
            </a:avLst>
          </a:prstGeom>
          <a:solidFill>
            <a:srgbClr val="EEFAF6"/>
          </a:solidFill>
          <a:ln w="12700">
            <a:solidFill>
              <a:srgbClr val="E3EB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3030200" y="8961120"/>
            <a:ext cx="1795882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re-parse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I′</a:t>
            </a:r>
            <a:endParaRPr lang="en-US" sz="1650" dirty="0"/>
          </a:p>
        </p:txBody>
      </p:sp>
      <p:sp>
        <p:nvSpPr>
          <p:cNvPr id="41" name="Text 38"/>
          <p:cNvSpPr/>
          <p:nvPr/>
        </p:nvSpPr>
        <p:spPr>
          <a:xfrm>
            <a:off x="14771218" y="8961120"/>
            <a:ext cx="4937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2" name="Shape 39"/>
          <p:cNvSpPr/>
          <p:nvPr/>
        </p:nvSpPr>
        <p:spPr>
          <a:xfrm>
            <a:off x="15210130" y="8961120"/>
            <a:ext cx="1795882" cy="1417320"/>
          </a:xfrm>
          <a:prstGeom prst="roundRect">
            <a:avLst>
              <a:gd name="adj" fmla="val 5161"/>
            </a:avLst>
          </a:prstGeom>
          <a:solidFill>
            <a:srgbClr val="EEFAF6"/>
          </a:solidFill>
          <a:ln w="12700">
            <a:solidFill>
              <a:srgbClr val="E3EBF0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15210130" y="8961120"/>
            <a:ext cx="1795882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h_I′</a:t>
            </a:r>
            <a:endParaRPr lang="en-US" sz="1650" dirty="0"/>
          </a:p>
        </p:txBody>
      </p:sp>
      <p:sp>
        <p:nvSpPr>
          <p:cNvPr id="44" name="Text 41"/>
          <p:cNvSpPr/>
          <p:nvPr/>
        </p:nvSpPr>
        <p:spPr>
          <a:xfrm>
            <a:off x="16951147" y="8961120"/>
            <a:ext cx="4937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17390059" y="8961120"/>
            <a:ext cx="1795882" cy="1417320"/>
          </a:xfrm>
          <a:prstGeom prst="roundRect">
            <a:avLst>
              <a:gd name="adj" fmla="val 5161"/>
            </a:avLst>
          </a:prstGeom>
          <a:solidFill>
            <a:srgbClr val="EEFAF6"/>
          </a:solidFill>
          <a:ln w="12700">
            <a:solidFill>
              <a:srgbClr val="E3EBF0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7390059" y="8961120"/>
            <a:ext cx="1795882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 map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(erasures)</a:t>
            </a:r>
            <a:endParaRPr lang="en-US" sz="1650" dirty="0"/>
          </a:p>
        </p:txBody>
      </p:sp>
      <p:sp>
        <p:nvSpPr>
          <p:cNvPr id="47" name="Text 44"/>
          <p:cNvSpPr/>
          <p:nvPr/>
        </p:nvSpPr>
        <p:spPr>
          <a:xfrm>
            <a:off x="19131077" y="8961120"/>
            <a:ext cx="4937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8" name="Shape 45"/>
          <p:cNvSpPr/>
          <p:nvPr/>
        </p:nvSpPr>
        <p:spPr>
          <a:xfrm>
            <a:off x="19569989" y="8961120"/>
            <a:ext cx="1795882" cy="1417320"/>
          </a:xfrm>
          <a:prstGeom prst="roundRect">
            <a:avLst>
              <a:gd name="adj" fmla="val 5161"/>
            </a:avLst>
          </a:prstGeom>
          <a:solidFill>
            <a:srgbClr val="EEFAF6"/>
          </a:solidFill>
          <a:ln w="12700">
            <a:solidFill>
              <a:srgbClr val="E3EBF0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9569989" y="8961120"/>
            <a:ext cx="1795882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 decode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p̂</a:t>
            </a:r>
            <a:endParaRPr lang="en-US" sz="1650" dirty="0"/>
          </a:p>
        </p:txBody>
      </p:sp>
      <p:sp>
        <p:nvSpPr>
          <p:cNvPr id="50" name="Text 47"/>
          <p:cNvSpPr/>
          <p:nvPr/>
        </p:nvSpPr>
        <p:spPr>
          <a:xfrm>
            <a:off x="21311006" y="8961120"/>
            <a:ext cx="4937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1" name="Shape 48"/>
          <p:cNvSpPr/>
          <p:nvPr/>
        </p:nvSpPr>
        <p:spPr>
          <a:xfrm>
            <a:off x="21749918" y="8961120"/>
            <a:ext cx="1795882" cy="1417320"/>
          </a:xfrm>
          <a:prstGeom prst="roundRect">
            <a:avLst>
              <a:gd name="adj" fmla="val 5161"/>
            </a:avLst>
          </a:prstGeom>
          <a:solidFill>
            <a:srgbClr val="EEFAF6"/>
          </a:solidFill>
          <a:ln w="12700">
            <a:solidFill>
              <a:srgbClr val="E3EBF0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21749918" y="8961120"/>
            <a:ext cx="1795882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MAC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attribute</a:t>
            </a:r>
            <a:endParaRPr lang="en-US" sz="1650" dirty="0"/>
          </a:p>
        </p:txBody>
      </p:sp>
      <p:sp>
        <p:nvSpPr>
          <p:cNvPr id="53" name="Text 50"/>
          <p:cNvSpPr/>
          <p:nvPr/>
        </p:nvSpPr>
        <p:spPr>
          <a:xfrm>
            <a:off x="13030200" y="107899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invariant digest h_I binds the payload: </a:t>
            </a:r>
            <a:pPr indent="0" marL="0">
              <a:buNone/>
            </a:pPr>
            <a:r>
              <a:rPr lang="en-US" sz="20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altering locked meaning changes h_I and fails verification — forgery and false attribution reduce to MAC security.</a:t>
            </a:r>
            <a:endParaRPr lang="en-US" sz="2000" dirty="0"/>
          </a:p>
        </p:txBody>
      </p:sp>
      <p:sp>
        <p:nvSpPr>
          <p:cNvPr id="54" name="Shape 51"/>
          <p:cNvSpPr/>
          <p:nvPr/>
        </p:nvSpPr>
        <p:spPr>
          <a:xfrm>
            <a:off x="12618720" y="12847320"/>
            <a:ext cx="11338560" cy="621792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19050">
            <a:solidFill>
              <a:srgbClr val="E3EBF0"/>
            </a:solidFill>
            <a:prstDash val="solid"/>
          </a:ln>
          <a:effectLst>
            <a:outerShdw sx="100000" sy="100000" kx="0" ky="0" algn="bl" rotWithShape="0" blurRad="101600" dist="38100" dir="5400000">
              <a:srgbClr val="9AB0C0">
                <a:alpha val="35000"/>
              </a:srgbClr>
            </a:outerShdw>
          </a:effectLst>
        </p:spPr>
      </p:sp>
      <p:sp>
        <p:nvSpPr>
          <p:cNvPr id="55" name="Text 52"/>
          <p:cNvSpPr/>
          <p:nvPr/>
        </p:nvSpPr>
        <p:spPr>
          <a:xfrm>
            <a:off x="13030200" y="130759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· Formal guarantees</a:t>
            </a:r>
            <a:endParaRPr lang="en-US" sz="3000" dirty="0"/>
          </a:p>
        </p:txBody>
      </p:sp>
      <p:sp>
        <p:nvSpPr>
          <p:cNvPr id="56" name="Shape 53"/>
          <p:cNvSpPr/>
          <p:nvPr/>
        </p:nvSpPr>
        <p:spPr>
          <a:xfrm>
            <a:off x="13030200" y="1389888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4F8FA"/>
          </a:solidFill>
          <a:ln w="12700">
            <a:solidFill>
              <a:srgbClr val="E3EBF0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3258800" y="1403604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A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Ⅰ  Semantic fidelity by construction
</a:t>
            </a:r>
            <a:pPr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Watermarking never alters locked meaning; carriers without a valid realization become erasures (Prop. 1).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18425160" y="1389888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4F8FA"/>
          </a:solidFill>
          <a:ln w="12700">
            <a:solidFill>
              <a:srgbClr val="E3EBF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18653760" y="1403604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A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Ⅱ  Unforgeability
</a:t>
            </a:r>
            <a:pPr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Forging attribution reduces to forging HMAC-SHA256 (EUF-CMA), Thm. 1.</a:t>
            </a:r>
            <a:endParaRPr lang="en-US" sz="1800" dirty="0"/>
          </a:p>
        </p:txBody>
      </p:sp>
      <p:sp>
        <p:nvSpPr>
          <p:cNvPr id="60" name="Shape 57"/>
          <p:cNvSpPr/>
          <p:nvPr/>
        </p:nvSpPr>
        <p:spPr>
          <a:xfrm>
            <a:off x="13030200" y="1636776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4F8FA"/>
          </a:solidFill>
          <a:ln w="12700">
            <a:solidFill>
              <a:srgbClr val="E3EBF0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13258800" y="1650492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A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Ⅲ  False-positive bound
</a:t>
            </a:r>
            <a:pPr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FPR ≤ 2⁻ᵗᵃᵘ — a design constant, not a tuned threshold (Thm. 2).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18425160" y="1636776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4F8FA"/>
          </a:solidFill>
          <a:ln w="12700">
            <a:solidFill>
              <a:srgbClr val="E3EBF0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8653760" y="1650492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A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Ⅳ  Capacity / recovery cliff
</a:t>
            </a:r>
            <a:pPr indent="0" marL="0">
              <a:buNone/>
            </a:pPr>
            <a:r>
              <a:rPr lang="en-US" sz="165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Erasure-channel model predicts minimum reliable length and a cliff at the code rate (Prop. 2).</a:t>
            </a:r>
            <a:endParaRPr lang="en-US" sz="1800" dirty="0"/>
          </a:p>
        </p:txBody>
      </p:sp>
      <p:sp>
        <p:nvSpPr>
          <p:cNvPr id="64" name="Shape 61"/>
          <p:cNvSpPr/>
          <p:nvPr/>
        </p:nvSpPr>
        <p:spPr>
          <a:xfrm>
            <a:off x="12618720" y="19431000"/>
            <a:ext cx="11338560" cy="6126480"/>
          </a:xfrm>
          <a:prstGeom prst="roundRect">
            <a:avLst>
              <a:gd name="adj" fmla="val 2090"/>
            </a:avLst>
          </a:prstGeom>
          <a:solidFill>
            <a:srgbClr val="FFFFFF"/>
          </a:solidFill>
          <a:ln w="19050">
            <a:solidFill>
              <a:srgbClr val="E3EBF0"/>
            </a:solidFill>
            <a:prstDash val="solid"/>
          </a:ln>
          <a:effectLst>
            <a:outerShdw sx="100000" sy="100000" kx="0" ky="0" algn="bl" rotWithShape="0" blurRad="101600" dist="38100" dir="5400000">
              <a:srgbClr val="9AB0C0">
                <a:alpha val="35000"/>
              </a:srgbClr>
            </a:outerShdw>
          </a:effectLst>
        </p:spPr>
      </p:sp>
      <p:sp>
        <p:nvSpPr>
          <p:cNvPr id="65" name="Text 62"/>
          <p:cNvSpPr/>
          <p:nvPr/>
        </p:nvSpPr>
        <p:spPr>
          <a:xfrm>
            <a:off x="13030200" y="196596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· Measured recovery cliff  (rate-½ GF(2) code, 500 trials/point)</a:t>
            </a:r>
            <a:endParaRPr lang="en-US" sz="3000" dirty="0"/>
          </a:p>
        </p:txBody>
      </p:sp>
      <p:graphicFrame>
        <p:nvGraphicFramePr>
          <p:cNvPr id="66" name="Chart 0" descr=""/>
          <p:cNvGraphicFramePr/>
          <p:nvPr/>
        </p:nvGraphicFramePr>
        <p:xfrm>
          <a:off x="13030200" y="20574000"/>
          <a:ext cx="10515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7" name="Text 63"/>
          <p:cNvSpPr/>
          <p:nvPr/>
        </p:nvSpPr>
        <p:spPr>
          <a:xfrm>
            <a:off x="13030200" y="24643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holds to 40% carrier erasure, collapsing at ε ≈ 1 − R = 0.5 — exactly the predicted capacity cliff.</a:t>
            </a:r>
            <a:endParaRPr lang="en-US" sz="1700" dirty="0"/>
          </a:p>
        </p:txBody>
      </p:sp>
      <p:sp>
        <p:nvSpPr>
          <p:cNvPr id="68" name="Shape 64"/>
          <p:cNvSpPr/>
          <p:nvPr/>
        </p:nvSpPr>
        <p:spPr>
          <a:xfrm>
            <a:off x="24505920" y="4892040"/>
            <a:ext cx="11338560" cy="7863840"/>
          </a:xfrm>
          <a:prstGeom prst="roundRect">
            <a:avLst>
              <a:gd name="adj" fmla="val 1628"/>
            </a:avLst>
          </a:prstGeom>
          <a:solidFill>
            <a:srgbClr val="FFFFFF"/>
          </a:solidFill>
          <a:ln w="19050">
            <a:solidFill>
              <a:srgbClr val="E3EBF0"/>
            </a:solidFill>
            <a:prstDash val="solid"/>
          </a:ln>
          <a:effectLst>
            <a:outerShdw sx="100000" sy="100000" kx="0" ky="0" algn="bl" rotWithShape="0" blurRad="101600" dist="38100" dir="5400000">
              <a:srgbClr val="9AB0C0">
                <a:alpha val="35000"/>
              </a:srgbClr>
            </a:outerShdw>
          </a:effectLst>
        </p:spPr>
      </p:sp>
      <p:sp>
        <p:nvSpPr>
          <p:cNvPr id="69" name="Text 65"/>
          <p:cNvSpPr/>
          <p:nvPr/>
        </p:nvSpPr>
        <p:spPr>
          <a:xfrm>
            <a:off x="24917400" y="51206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· Verified implementation results</a:t>
            </a:r>
            <a:endParaRPr lang="en-US" sz="3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917400" y="5989320"/>
          <a:ext cx="10515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96112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behavior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payload recovery + valid MAC with 28/96 carriers erased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Flipping a locked field (polarity) breaks attribution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20,000 false positives at τ = 32  (bound 2.3×10⁻¹⁰)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Keyed map is invariant-bound: 43/96 options differ across documents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L1–L3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Sentence-string round-trip: fidelity, recovery (19/64 erased), tamper detection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15/15 unit tests pass; selftest doubles as regression harness</a:t>
                      </a:r>
                      <a:endParaRPr lang="en-US" sz="1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Shape 66"/>
          <p:cNvSpPr/>
          <p:nvPr/>
        </p:nvSpPr>
        <p:spPr>
          <a:xfrm>
            <a:off x="24505920" y="13121640"/>
            <a:ext cx="11338560" cy="667512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9050">
            <a:solidFill>
              <a:srgbClr val="E3EBF0"/>
            </a:solidFill>
            <a:prstDash val="solid"/>
          </a:ln>
          <a:effectLst>
            <a:outerShdw sx="100000" sy="100000" kx="0" ky="0" algn="bl" rotWithShape="0" blurRad="101600" dist="38100" dir="5400000">
              <a:srgbClr val="9AB0C0">
                <a:alpha val="35000"/>
              </a:srgbClr>
            </a:outerShdw>
          </a:effectLst>
        </p:spPr>
      </p:sp>
      <p:sp>
        <p:nvSpPr>
          <p:cNvPr id="72" name="Text 67"/>
          <p:cNvSpPr/>
          <p:nvPr/>
        </p:nvSpPr>
        <p:spPr>
          <a:xfrm>
            <a:off x="24917400" y="13350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· Difference from prior watermarks</a:t>
            </a:r>
            <a:endParaRPr lang="en-US" sz="30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917400" y="14218920"/>
          <a:ext cx="10515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  <a:gridCol w="5212080"/>
              </a:tblGrid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6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16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addressed</a:t>
                      </a:r>
                      <a:endParaRPr lang="en-US" sz="16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SynthID-Text, KGW</a:t>
                      </a:r>
                      <a:endParaRPr lang="en-US" sz="16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statistics</a:t>
                      </a:r>
                      <a:endParaRPr lang="en-US" sz="16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translation/paraphrase replace tokens → signal lost</a:t>
                      </a:r>
                      <a:endParaRPr lang="en-US" sz="16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SIR, SemaMark</a:t>
                      </a:r>
                      <a:endParaRPr lang="en-US" sz="16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embeddings</a:t>
                      </a:r>
                      <a:endParaRPr lang="en-US" sz="16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does not protect negation, numbers, causality, attribution</a:t>
                      </a:r>
                      <a:endParaRPr lang="en-US" sz="16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SWAN</a:t>
                      </a:r>
                      <a:endParaRPr lang="en-US" sz="16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 structures</a:t>
                      </a:r>
                      <a:endParaRPr lang="en-US" sz="16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 formalism, no watermark-specific mutability contract</a:t>
                      </a:r>
                      <a:endParaRPr lang="en-US" sz="16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2A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Truthprint</a:t>
                      </a:r>
                      <a:endParaRPr lang="en-US" sz="16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invariant classes</a:t>
                      </a:r>
                      <a:endParaRPr lang="en-US" sz="16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2433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machine-checkable contract: what must hold, what may carry bits</a:t>
                      </a:r>
                      <a:endParaRPr lang="en-US" sz="16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4" name="Shape 68"/>
          <p:cNvSpPr/>
          <p:nvPr/>
        </p:nvSpPr>
        <p:spPr>
          <a:xfrm>
            <a:off x="24505920" y="20162520"/>
            <a:ext cx="11338560" cy="539496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9050">
            <a:solidFill>
              <a:srgbClr val="E3EBF0"/>
            </a:solidFill>
            <a:prstDash val="solid"/>
          </a:ln>
          <a:effectLst>
            <a:outerShdw sx="100000" sy="100000" kx="0" ky="0" algn="bl" rotWithShape="0" blurRad="101600" dist="38100" dir="5400000">
              <a:srgbClr val="9AB0C0">
                <a:alpha val="35000"/>
              </a:srgbClr>
            </a:outerShdw>
          </a:effectLst>
        </p:spPr>
      </p:sp>
      <p:sp>
        <p:nvSpPr>
          <p:cNvPr id="75" name="Text 69"/>
          <p:cNvSpPr/>
          <p:nvPr/>
        </p:nvSpPr>
        <p:spPr>
          <a:xfrm>
            <a:off x="24917400" y="20391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· Deployment path &amp; open problems</a:t>
            </a:r>
            <a:endParaRPr lang="en-US" sz="3000" dirty="0"/>
          </a:p>
        </p:txBody>
      </p:sp>
      <p:sp>
        <p:nvSpPr>
          <p:cNvPr id="76" name="Text 70"/>
          <p:cNvSpPr/>
          <p:nvPr/>
        </p:nvSpPr>
        <p:spPr>
          <a:xfrm>
            <a:off x="24963120" y="21214080"/>
            <a:ext cx="10424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realization pass or asynchronous post-generation service — no sampler changes; crypto/coding layers are LLM-size independent.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43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degradation: low-capacity spans (code, quotes) → erasures, with layered fallback to token watermarks.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C05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wide-coverage multilingual semantic parsing; multilingual/adversarial evaluation protocol is specified in the paper.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2026-07-23T05:04:33Z</dcterms:created>
  <dcterms:modified xsi:type="dcterms:W3CDTF">2026-07-23T05:04:33Z</dcterms:modified>
</cp:coreProperties>
</file>