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복구율</c:v>
                </c:pt>
              </c:strCache>
            </c:strRef>
          </c:tx>
          <c:spPr>
            <a:solidFill>
              <a:srgbClr val="1C9AA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733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10%</c:v>
                  </c:pt>
                  <c:pt idx="1">
                    <c:v>20%</c:v>
                  </c:pt>
                  <c:pt idx="2">
                    <c:v>30%</c:v>
                  </c:pt>
                  <c:pt idx="3">
                    <c:v>40%</c:v>
                  </c:pt>
                  <c:pt idx="4">
                    <c:v>50%</c:v>
                  </c:pt>
                  <c:pt idx="5">
                    <c:v>55%</c:v>
                  </c:pt>
                  <c:pt idx="6">
                    <c:v>60%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27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A2733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E7A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4EB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E7A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2011680"/>
            <a:ext cx="2834640" cy="2834640"/>
          </a:xfrm>
          <a:prstGeom prst="ellipse">
            <a:avLst/>
          </a:prstGeom>
          <a:solidFill>
            <a:srgbClr val="0E2233"/>
          </a:solidFill>
          <a:ln w="19050">
            <a:solidFill>
              <a:srgbClr val="2AB7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09660" y="2354580"/>
            <a:ext cx="2148840" cy="2148840"/>
          </a:xfrm>
          <a:prstGeom prst="ellipse">
            <a:avLst/>
          </a:prstGeom>
          <a:solidFill>
            <a:srgbClr val="0E2233"/>
          </a:solidFill>
          <a:ln w="19050">
            <a:solidFill>
              <a:srgbClr val="1C9A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2697480"/>
            <a:ext cx="1463040" cy="1463040"/>
          </a:xfrm>
          <a:prstGeom prst="ellipse">
            <a:avLst/>
          </a:prstGeom>
          <a:solidFill>
            <a:srgbClr val="0E2233"/>
          </a:solidFill>
          <a:ln w="19050">
            <a:solidFill>
              <a:srgbClr val="2AB7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3017520"/>
            <a:ext cx="822960" cy="822960"/>
          </a:xfrm>
          <a:prstGeom prst="ellipse">
            <a:avLst/>
          </a:prstGeom>
          <a:solidFill>
            <a:srgbClr val="0E2233"/>
          </a:solidFill>
          <a:ln w="19050">
            <a:solidFill>
              <a:srgbClr val="1C9A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82912" y="3227832"/>
            <a:ext cx="402336" cy="40233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AB7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내부 공유 자료 ·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Truthprint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D6E4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번역·패러프레이즈에도 지워지지 않는</a:t>
            </a:r>
            <a:endParaRPr lang="en-US" sz="2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D6E4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텍스트 출처(provenance) 워터마킹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0080" y="4480560"/>
            <a:ext cx="6126480" cy="566928"/>
          </a:xfrm>
          <a:prstGeom prst="roundRect">
            <a:avLst>
              <a:gd name="adj" fmla="val 50000"/>
            </a:avLst>
          </a:prstGeom>
          <a:solidFill>
            <a:srgbClr val="16324A"/>
          </a:solidFill>
          <a:ln w="12700">
            <a:solidFill>
              <a:srgbClr val="1C9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480560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FE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불변식 계약 + 인증형(MAC) 출처 표시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github.com/leemgs/truthprint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필요한가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12466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1673352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49040" y="164592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제50조 — 생성물(텍스트 포함)을 기계판독 가능·탐지 가능 형식으로 표시할 의무 (2026년 8월 시행)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724912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999232"/>
            <a:ext cx="502920" cy="502920"/>
          </a:xfrm>
          <a:prstGeom prst="ellipse">
            <a:avLst/>
          </a:prstGeom>
          <a:solidFill>
            <a:srgbClr val="12466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2843784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신뢰·데이터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49040" y="2816352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불명 합성 텍스트로 학습하면 세대를 거치며 모델 품질이 붕괴 (Nature, 2024)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3895344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169664"/>
            <a:ext cx="502920" cy="50292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4014216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한계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49040" y="3986784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기반 워터마크는 번역·패러프레이즈로 토큰 선택이 교체되며 신호가 쉽게 사라짐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5084064"/>
            <a:ext cx="10972800" cy="566928"/>
          </a:xfrm>
          <a:prstGeom prst="roundRect">
            <a:avLst>
              <a:gd name="adj" fmla="val 14516"/>
            </a:avLst>
          </a:prstGeom>
          <a:solidFill>
            <a:srgbClr val="FBEFE1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08406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4B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문제: 기계판독은 되지만 쉽게 지워지는 표시는 규제 취지에 미달 — 강건성이 곧 준수 요건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아이디어: 토큰이 아니라 ‘의미’에 새긴다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FDECEC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8745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74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(Locked)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진리조건 불변식 — 절대 변경 불가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A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 · 서술어 · 의미역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A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부정(negation) · 양화 · 수량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A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순서 · 양상 · 인과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5A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출처(attribution)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E7F4F0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18745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E8A6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(Realization)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423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 자유도 — 여기에만 워터마크를 실음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288036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4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능동/수동 등 태(voice)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4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어순 · 부사구 위치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4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 포장 · 접속 방식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F4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어휘적 표현 변이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525780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2466B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52578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의미를 바꾸지 않는 변형에만 워터마크가 실린다 → 번역·패러프레이즈로 표현이 바뀌어도 신호가 남는다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방식: 인코딩과 탐지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2466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23160" y="16916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96312" y="17465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불변식 추출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(계약 잠금)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74566" y="169164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12310" y="16916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5462" y="17465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인증 페이로드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= m ‖ HMAC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63717" y="169164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01461" y="16916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74613" y="17465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ECC 부호화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(여러 문장 분산)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52867" y="169164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90611" y="16916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63763" y="17465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키드 캐리어로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실현·검증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742018" y="169164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979762" y="16916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2914" y="17465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워터마크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306324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1C9AA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63240"/>
            <a:ext cx="1600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423160" y="30632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96312" y="31181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재파싱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불변식 I′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074566" y="306324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12310" y="30632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385462" y="31181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h_I′ 재계산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963717" y="306324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01461" y="30632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74613" y="31181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키 역매핑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(불확실→소거)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852867" y="306324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90611" y="30632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163763" y="31181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ECC 복호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p̂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742018" y="306324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9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979762" y="3063240"/>
            <a:ext cx="1633118" cy="1051560"/>
          </a:xfrm>
          <a:prstGeom prst="roundRect">
            <a:avLst>
              <a:gd name="adj" fmla="val 7826"/>
            </a:avLst>
          </a:prstGeom>
          <a:solidFill>
            <a:srgbClr val="F3F8FB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052914" y="3118104"/>
            <a:ext cx="148681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MAC 검증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귀속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0080" y="470916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4846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4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불변식 다이제스트 h_I가 페이로드를 결속한다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05840" y="52578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잠긴 의미(예: 부정)를 바꾸면 h_I가 변해 MAC 검증 실패 → 오귀속·위조 차단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표현만 바뀌면 불변식과 살아남은 캐리어로 페이로드를 그대로 복구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번역·패러프레이즈에 견고한가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2466B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워터마크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560320" y="178308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80360" y="1783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2A65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80360" y="17830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A34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변형 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5A34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번역·패러프레이즈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5A34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(일부 캐리어 소거)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00600" y="178308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120640" y="1783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17830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 →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불변식 I′ 복원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40880" y="178308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360920" y="1783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2466B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60920" y="17830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ECC 복호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페이로드 복구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281160" y="178308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601200" y="178308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E8A6E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0" y="17830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 검증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귀속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611880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3849624"/>
            <a:ext cx="310896" cy="310896"/>
          </a:xfrm>
          <a:prstGeom prst="ellipse">
            <a:avLst/>
          </a:prstGeom>
          <a:solidFill>
            <a:srgbClr val="2AB7C8"/>
          </a:solidFill>
          <a:ln/>
        </p:spPr>
      </p:sp>
      <p:sp>
        <p:nvSpPr>
          <p:cNvPr id="21" name="Text 19"/>
          <p:cNvSpPr/>
          <p:nvPr/>
        </p:nvSpPr>
        <p:spPr>
          <a:xfrm>
            <a:off x="1417320" y="3611880"/>
            <a:ext cx="3291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 + 오류정정(ECC)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54880" y="3611880"/>
            <a:ext cx="6675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페이로드를 여러 문장에 나눠 심어, 번역이 일부 캐리어를 지워도 살아남은 것으로 복구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4507992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6112" y="4745736"/>
            <a:ext cx="310896" cy="310896"/>
          </a:xfrm>
          <a:prstGeom prst="ellipse">
            <a:avLst/>
          </a:prstGeom>
          <a:solidFill>
            <a:srgbClr val="2AB7C8"/>
          </a:solidFill>
          <a:ln/>
        </p:spPr>
      </p:sp>
      <p:sp>
        <p:nvSpPr>
          <p:cNvPr id="25" name="Text 23"/>
          <p:cNvSpPr/>
          <p:nvPr/>
        </p:nvSpPr>
        <p:spPr>
          <a:xfrm>
            <a:off x="1417320" y="4507992"/>
            <a:ext cx="3291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소거(erasure) 모델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54880" y="4507992"/>
            <a:ext cx="6675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불확실해진 캐리어는 ‘틀린 값’이 아니라 ‘소거’로 처리 → 오류 전파 없이 복원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0080" y="5404104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96112" y="5641848"/>
            <a:ext cx="310896" cy="310896"/>
          </a:xfrm>
          <a:prstGeom prst="ellipse">
            <a:avLst/>
          </a:prstGeom>
          <a:solidFill>
            <a:srgbClr val="2AB7C8"/>
          </a:solidFill>
          <a:ln/>
        </p:spPr>
      </p:sp>
      <p:sp>
        <p:nvSpPr>
          <p:cNvPr id="29" name="Text 27"/>
          <p:cNvSpPr/>
          <p:nvPr/>
        </p:nvSpPr>
        <p:spPr>
          <a:xfrm>
            <a:off x="1417320" y="5404104"/>
            <a:ext cx="32918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4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변조는 자동 차단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54880" y="5404104"/>
            <a:ext cx="6675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잠긴 불변식이 바뀌면 h_I 변화 → MAC 실패 → 의미를 훼손한 제거는 성공으로 인정되지 않음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형식적 보장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9659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2466B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965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64208" y="196596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구성상 의미 보존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0976" y="26517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워터마킹이 잠긴 의미를 절대 바꾸지 않음 — 유효 실현이 없으면 강제 대신 ‘소거’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6248" y="19659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C9AAA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1965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87768" y="196596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위조 불가능성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74536" y="26517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귀속 위조 = MAC 위조 (HMAC-SHA256의 EUF-CMA 안전성으로 환원)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" y="42519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E8A6E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4251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64208" y="425196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 상한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0976" y="49377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암호학적 오탐률 ≤ 2⁻ᵗᵃᵘ — τ=32에서 2만 건 중 0건 관측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397764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56248" y="42519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B7791F"/>
          </a:solidFill>
          <a:ln/>
        </p:spPr>
      </p:sp>
      <p:sp>
        <p:nvSpPr>
          <p:cNvPr id="22" name="Text 20"/>
          <p:cNvSpPr/>
          <p:nvPr/>
        </p:nvSpPr>
        <p:spPr>
          <a:xfrm>
            <a:off x="6556248" y="4251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87768" y="425196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복구 절벽 (용량)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74536" y="49377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코드율까지 소거 허용, 그 이상에서 급락 — 최소 신뢰 길이를 예측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구현과 검증: 실제로 재현된다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라이브러리만으로 동작하는 참조 구현 (설치·의존성 최소)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15개 전부 통과 — 곧 재현 하네스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P1–P4 (암호·코딩 코어) / L1–L3 (실제 문장 라운드트립) 검증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수치 조작 없음 — 검증 가능한 것만 실측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소거율↔복구율 ‘절벽’을 실측 재현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0" y="1645920"/>
            <a:ext cx="521208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소거율 대비 복구율 (rate-1/2 부호)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537960" y="219456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537960" y="5440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 소거까지 ~100% 복구, 50% 부근에서 급락 (용량 한계)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방식과의 차이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72800" cy="1024128"/>
          </a:xfrm>
          <a:prstGeom prst="roundRect">
            <a:avLst>
              <a:gd name="adj" fmla="val 8036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929384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44586A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92938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통계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37560" y="1691640"/>
            <a:ext cx="22860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SynthID-Text, KGW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0" y="1691640"/>
            <a:ext cx="5760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번역·패러프레이즈로 토큰 결정이 교체되면 신호 소실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07208"/>
            <a:ext cx="10972800" cy="1024128"/>
          </a:xfrm>
          <a:prstGeom prst="roundRect">
            <a:avLst>
              <a:gd name="adj" fmla="val 8036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3044952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44586A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04495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임베딩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807208"/>
            <a:ext cx="22860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SIR, SemaMark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2807208"/>
            <a:ext cx="5760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유사도는 어떤 핵심 사실을 지킬지 명시하지 않음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922776"/>
            <a:ext cx="10972800" cy="1024128"/>
          </a:xfrm>
          <a:prstGeom prst="roundRect">
            <a:avLst>
              <a:gd name="adj" fmla="val 8036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16052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44586A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의미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37560" y="3922776"/>
            <a:ext cx="22860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SWAN (AMR)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0" y="3922776"/>
            <a:ext cx="5760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의미 형식을 그대로 채택 — 워터마크 전용 계약은 아님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038344"/>
            <a:ext cx="10972800" cy="1024128"/>
          </a:xfrm>
          <a:prstGeom prst="roundRect">
            <a:avLst>
              <a:gd name="adj" fmla="val 8036"/>
            </a:avLst>
          </a:prstGeom>
          <a:solidFill>
            <a:srgbClr val="E7F4F0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5276088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1C9AAA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2760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Truthprint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37560" y="5038344"/>
            <a:ext cx="22860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E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연구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5038344"/>
            <a:ext cx="57607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지정 불변식 계약 + 인증 페이로드 — ‘무엇을 지킬지’를 기계가 검증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실용성과 배포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984248"/>
            <a:ext cx="457200" cy="457200"/>
          </a:xfrm>
          <a:prstGeom prst="ellipse">
            <a:avLst/>
          </a:prstGeom>
          <a:solidFill>
            <a:srgbClr val="12466B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9476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방식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9264" y="25603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인라인(샘플러 수정이 아닌 의미 실현 패스) 또는 비동기(후처리 서비스)로 결합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6248" y="1984248"/>
            <a:ext cx="457200" cy="457200"/>
          </a:xfrm>
          <a:prstGeom prst="ellipse">
            <a:avLst/>
          </a:prstGeom>
          <a:solidFill>
            <a:srgbClr val="12466B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19476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우아한 성능 저하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92824" y="25603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저용량 구간(코드·인용·수식)은 소거 처리하고, 필요 시 토큰 워터마크로 계층 폴백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" y="4133088"/>
            <a:ext cx="457200" cy="457200"/>
          </a:xfrm>
          <a:prstGeom prst="ellipse">
            <a:avLst/>
          </a:prstGeom>
          <a:solidFill>
            <a:srgbClr val="12466B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0965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준수 계층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9264" y="47091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제50조의 ‘기계판독 가능·강건’ 표시를 위한 강건성 계층으로 배치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3640" y="384048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EFF5F9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56248" y="4133088"/>
            <a:ext cx="457200" cy="457200"/>
          </a:xfrm>
          <a:prstGeom prst="ellipse">
            <a:avLst/>
          </a:prstGeom>
          <a:solidFill>
            <a:srgbClr val="12466B"/>
          </a:solidFill>
          <a:ln/>
        </p:spPr>
      </p:sp>
      <p:sp>
        <p:nvSpPr>
          <p:cNvPr id="22" name="Text 20"/>
          <p:cNvSpPr/>
          <p:nvPr/>
        </p:nvSpPr>
        <p:spPr>
          <a:xfrm>
            <a:off x="6556248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∞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40965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 독립·유한 지연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92824" y="47091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암호·코딩 계층은 LLM 크기와 무관하며 문서 길이에 선형 — 지연 유한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오픈소스로 공개 — 홍익인간(弘益人間)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공개: github.com/leemgs/truthprint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구성: 패키지(invariants·payload·coding·carriers·core·linguistic) + 테스트 + CI + 예제</a:t>
            </a:r>
            <a:endParaRPr lang="en-US" sz="15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MIT 라이선스 · Mermaid 다이어그램 README · CITATION.cff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clone → 설치 → selftest 로 즉시 재현 가능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92240" y="178308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0E2233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0" y="201168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66560" y="237744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github.com/leemgs/truthprint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66560" y="274320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truthprint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66560" y="310896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-e ".[dev]"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66560" y="347472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truthprint selftest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66560" y="384048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SELFTEST: PASS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66560" y="420624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pytest -q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66560" y="457200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D1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15 passed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25780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7F4F0"/>
          </a:solidFill>
          <a:ln w="12700">
            <a:solidFill>
              <a:srgbClr val="1C9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2578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연구자들이 재현·검증·확장할 수 있도록 공개 — 널리 인간을 이롭게(弘益人間) 한다는 취지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C9AAA"/>
          </a:solidFill>
          <a:ln/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53035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향후 과제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BF0F0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B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한계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A2E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계층은 폐도메인 Stage-1 데모(2개 캐리어) — 광범위 의미 파서가 핵심 과제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A2E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현재는 이진 캐리어 — 고차수 캐리어로 확장 가능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A2E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undetectability는 목표가 아님(인증형·변형 강건 귀속이 목표)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6A2E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결과표의 TBD는 실제 다국어 실험으로 채워야 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E9F2F6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01600" dist="38100" dir="5400000">
              <a:srgbClr val="5A6A76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874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46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0" y="2423160"/>
            <a:ext cx="457200" cy="457200"/>
          </a:xfrm>
          <a:prstGeom prst="ellipse">
            <a:avLst/>
          </a:prstGeom>
          <a:solidFill>
            <a:srgbClr val="1C9AA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78040" y="23774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광범위 도메인 의미 파서 연동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12280" y="2880360"/>
            <a:ext cx="0" cy="292608"/>
          </a:xfrm>
          <a:prstGeom prst="line">
            <a:avLst/>
          </a:prstGeom>
          <a:noFill/>
          <a:ln w="19050">
            <a:solidFill>
              <a:srgbClr val="1C9AA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583680" y="3172968"/>
            <a:ext cx="457200" cy="457200"/>
          </a:xfrm>
          <a:prstGeom prst="ellipse">
            <a:avLst/>
          </a:prstGeom>
          <a:solidFill>
            <a:srgbClr val="1C9AA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78040" y="312724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 평가(번역·역번역) 수행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812280" y="3630168"/>
            <a:ext cx="0" cy="292608"/>
          </a:xfrm>
          <a:prstGeom prst="line">
            <a:avLst/>
          </a:prstGeom>
          <a:noFill/>
          <a:ln w="19050">
            <a:solidFill>
              <a:srgbClr val="1C9AA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583680" y="3922776"/>
            <a:ext cx="457200" cy="457200"/>
          </a:xfrm>
          <a:prstGeom prst="ellipse">
            <a:avLst/>
          </a:prstGeom>
          <a:solidFill>
            <a:srgbClr val="1C9AA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78040" y="387705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적대적 공격 벤치마크 구축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812280" y="4379976"/>
            <a:ext cx="0" cy="292608"/>
          </a:xfrm>
          <a:prstGeom prst="line">
            <a:avLst/>
          </a:prstGeom>
          <a:noFill/>
          <a:ln w="19050">
            <a:solidFill>
              <a:srgbClr val="1C9AA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583680" y="4672584"/>
            <a:ext cx="457200" cy="457200"/>
          </a:xfrm>
          <a:prstGeom prst="ellipse">
            <a:avLst/>
          </a:prstGeom>
          <a:solidFill>
            <a:srgbClr val="1C9AAA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672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78040" y="462686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실서비스 파일럿·SynthID 계층 결합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B7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Truthprint 한눈에 보기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16324A"/>
          </a:solidFill>
          <a:ln w="12700">
            <a:solidFill>
              <a:srgbClr val="2344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231136"/>
            <a:ext cx="310896" cy="310896"/>
          </a:xfrm>
          <a:prstGeom prst="ellipse">
            <a:avLst/>
          </a:prstGeom>
          <a:solidFill>
            <a:srgbClr val="2AB7C8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011680"/>
            <a:ext cx="9875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4EE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토큰이 아니라 ‘의미’에 새기는 출처 워터마크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16324A"/>
          </a:solidFill>
          <a:ln w="12700">
            <a:solidFill>
              <a:srgbClr val="2344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3127248"/>
            <a:ext cx="310896" cy="310896"/>
          </a:xfrm>
          <a:prstGeom prst="ellipse">
            <a:avLst/>
          </a:prstGeom>
          <a:solidFill>
            <a:srgbClr val="2AB7C8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907792"/>
            <a:ext cx="9875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4EE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번역·패러프레이즈 강건 + 위조 불가 + 낮은 오탐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40080" y="3803904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16324A"/>
          </a:solidFill>
          <a:ln w="12700">
            <a:solidFill>
              <a:srgbClr val="2344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4023360"/>
            <a:ext cx="310896" cy="310896"/>
          </a:xfrm>
          <a:prstGeom prst="ellipse">
            <a:avLst/>
          </a:prstGeom>
          <a:solidFill>
            <a:srgbClr val="2AB7C8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3803904"/>
            <a:ext cx="9875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4EE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가능한 오픈소스 (github.com/leemgs/truthprint)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40080" y="4700016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16324A"/>
          </a:solidFill>
          <a:ln w="12700">
            <a:solidFill>
              <a:srgbClr val="2344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4919472"/>
            <a:ext cx="310896" cy="310896"/>
          </a:xfrm>
          <a:prstGeom prst="ellipse">
            <a:avLst/>
          </a:prstGeom>
          <a:solidFill>
            <a:srgbClr val="2AB7C8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4700016"/>
            <a:ext cx="9875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4EE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시대의 강건한 provenance 계층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2AB7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“의미를 지키면서, 출처를 증명한다.”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Truthprint 부서 공유 발표자료</dc:title>
  <dc:subject>PptxGenJS Presentation</dc:subject>
  <dc:creator>Truthprint</dc:creator>
  <cp:lastModifiedBy>Truthprint</cp:lastModifiedBy>
  <cp:revision>1</cp:revision>
  <dcterms:created xsi:type="dcterms:W3CDTF">2026-07-22T22:57:41Z</dcterms:created>
  <dcterms:modified xsi:type="dcterms:W3CDTF">2026-07-22T22:57:41Z</dcterms:modified>
</cp:coreProperties>
</file>