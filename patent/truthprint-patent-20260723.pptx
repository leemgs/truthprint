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notesMasterIdLst>
    <p:notesMasterId r:id="rId16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notesMaster" Target="notesMasters/notesMaster1.xml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98B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23444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C7D5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특허 출원 준비 자료 · 발명 설명서(초안)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640080" y="1783080"/>
            <a:ext cx="10332720" cy="1554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불변식 계약 기반</a:t>
            </a:r>
            <a:endParaRPr lang="en-US" sz="3800" dirty="0"/>
          </a:p>
          <a:p>
            <a:pPr indent="0" marL="0">
              <a:lnSpc>
                <a:spcPct val="1080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번역·패러프레이즈 강건 텍스트 출처 워터마킹</a:t>
            </a:r>
            <a:endParaRPr lang="en-US" sz="3800" dirty="0"/>
          </a:p>
        </p:txBody>
      </p:sp>
      <p:sp>
        <p:nvSpPr>
          <p:cNvPr id="5" name="Text 3"/>
          <p:cNvSpPr/>
          <p:nvPr/>
        </p:nvSpPr>
        <p:spPr>
          <a:xfrm>
            <a:off x="640080" y="3520440"/>
            <a:ext cx="10332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9FB3D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Truthprint: An Invariant-Constrained Semantic Provenance Watermarking Method and System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640080" y="4343400"/>
            <a:ext cx="10881360" cy="914400"/>
          </a:xfrm>
          <a:prstGeom prst="roundRect">
            <a:avLst>
              <a:gd name="adj" fmla="val 8000"/>
            </a:avLst>
          </a:prstGeom>
          <a:solidFill>
            <a:srgbClr val="24365C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960120" y="4343400"/>
            <a:ext cx="102412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B98B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발명자: </a:t>
            </a:r>
            <a:pPr indent="0" marL="0">
              <a:buNone/>
            </a:pPr>
            <a:r>
              <a:rPr lang="en-US" sz="1500" dirty="0">
                <a:solidFill>
                  <a:srgbClr val="D6E1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(성명 기입)      </a:t>
            </a:r>
            <a:pPr indent="0" marL="0">
              <a:buNone/>
            </a:pPr>
            <a:r>
              <a:rPr lang="en-US" sz="1500" b="1" dirty="0">
                <a:solidFill>
                  <a:srgbClr val="B98B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출원인: </a:t>
            </a:r>
            <a:pPr indent="0" marL="0">
              <a:buNone/>
            </a:pPr>
            <a:r>
              <a:rPr lang="en-US" sz="1500" dirty="0">
                <a:solidFill>
                  <a:srgbClr val="D6E1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(기관 기입)      </a:t>
            </a:r>
            <a:pPr indent="0" marL="0">
              <a:buNone/>
            </a:pPr>
            <a:r>
              <a:rPr lang="en-US" sz="1500" b="1" dirty="0">
                <a:solidFill>
                  <a:srgbClr val="B98B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정리번호: </a:t>
            </a:r>
            <a:pPr indent="0" marL="0">
              <a:buNone/>
            </a:pPr>
            <a:r>
              <a:rPr lang="en-US" sz="1500" dirty="0">
                <a:solidFill>
                  <a:srgbClr val="D6E1F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TP-2026-001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40080" y="5669280"/>
            <a:ext cx="10881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FA2C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자료는 발명의 요지 설명을 위한 초안이며, 청구범위는 변리사 검토를 거쳐 확정되어야 합니다.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발명의 명칭 · 기술분야 · 요약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371600"/>
            <a:ext cx="10972800" cy="1234440"/>
          </a:xfrm>
          <a:prstGeom prst="roundRect">
            <a:avLst>
              <a:gd name="adj" fmla="val 5185"/>
            </a:avLst>
          </a:prstGeom>
          <a:solidFill>
            <a:srgbClr val="E4ECF7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48132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발명의 명칭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1828800"/>
            <a:ext cx="10424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(국문) 의미 불변식 계약 기반 번역·패러프레이즈 강건 텍스트 출처 워터마킹 방법 및 장치</a:t>
            </a:r>
            <a:endParaRPr lang="en-US" sz="14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4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(영문) Invariant-Constrained Semantic Provenance Watermarking for Robust Text Attribution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0080" y="2743200"/>
            <a:ext cx="10972800" cy="914400"/>
          </a:xfrm>
          <a:prstGeom prst="roundRect">
            <a:avLst>
              <a:gd name="adj" fmla="val 7000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283464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기술분야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14400" y="3154680"/>
            <a:ext cx="10424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AI 생성 텍스트의 출처 표시(워터마킹) 및 판별 기술 — 자연어처리 및 정보보안 분야, 특히 생성형 언어모델 출력의 기계판독형 provenance 표시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3794760"/>
            <a:ext cx="10972800" cy="2194560"/>
          </a:xfrm>
          <a:prstGeom prst="roundRect">
            <a:avLst>
              <a:gd name="adj" fmla="val 2917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914400" y="3904488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요약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960120" y="4297680"/>
            <a:ext cx="10424160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발명은 텍스트의 진리조건적 의미(불변식)를 타입 지정 계약으로 잠그고, 의미를 바꾸지 않는 실현 자유도만을 워터마크 반송파로 사용한다.</a:t>
            </a:r>
            <a:endParaRPr lang="en-US" sz="13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3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 페이로드 p = m ∥ MAC_K(m∥n∥h_I)를 오류정정부호로 다수의 문장 단위에 분산 삽입하여, 번역·패러프레이즈로 일부가 소실되어도 복구되도록 한다.</a:t>
            </a:r>
            <a:endParaRPr lang="en-US" sz="1350" dirty="0"/>
          </a:p>
          <a:p>
            <a:pPr marL="190500" indent="-190500">
              <a:buSzPct val="100000"/>
              <a:buChar char="•"/>
            </a:pPr>
            <a:r>
              <a:rPr lang="en-US" sz="13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다이제스트 h_I가 페이로드를 결속하므로, 핵심 의미를 훼손하는 변형은 검증 실패로 자동 차단되고 위조가 불가능하다.</a:t>
            </a:r>
            <a:endParaRPr lang="en-US" sz="13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제2장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배경기술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746504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746504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규제 환경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246120" y="1508760"/>
            <a:ext cx="8138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생성형 LLM 확산으로 AI 생성물 표시 의무화 — EU AI Act 제50조는 기계판독 가능·탐지 가능 표시를 요구(2026.8 시행)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2624328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862072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862072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종래기술 A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3246120" y="2624328"/>
            <a:ext cx="8138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생성 시점에 토큰 선택을 편향시키는 통계적 워터마킹(그린-레드 리스트, 토너먼트 샘플링 등)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40080" y="3739896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3977640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397764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종래기술 B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3246120" y="3739896"/>
            <a:ext cx="8138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문장/문맥 임베딩을 이용한 의미 기반 워터마킹(임베딩 영역 분할, 의미 불변 접근)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640080" y="4855464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5093208"/>
            <a:ext cx="2148840" cy="548640"/>
          </a:xfrm>
          <a:prstGeom prst="roundRect">
            <a:avLst>
              <a:gd name="adj" fmla="val 10000"/>
            </a:avLst>
          </a:prstGeom>
          <a:solidFill>
            <a:srgbClr val="1B2A4A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5093208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종래기술 C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46120" y="4855464"/>
            <a:ext cx="813816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인증·통계 검정을 결합한 판별(통계 임계값 기반 탐지)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제3장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종래기술의 문제점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BF0F1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801368"/>
            <a:ext cx="502920" cy="502920"/>
          </a:xfrm>
          <a:prstGeom prst="ellipse">
            <a:avLst/>
          </a:prstGeom>
          <a:solidFill>
            <a:srgbClr val="A9384A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1572768" y="1783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A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표면 신호의 취약성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969264" y="24688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통계 신호는 번역·패러프레이즈·재작성으로 토큰 결정이 교체되며 쉽게 제거된다.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BF0F1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1801368"/>
            <a:ext cx="502920" cy="502920"/>
          </a:xfrm>
          <a:prstGeom prst="ellipse">
            <a:avLst/>
          </a:prstGeom>
          <a:solidFill>
            <a:srgbClr val="A9384A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80136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7196328" y="178308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A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보존 범위의 불명확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6592824" y="246888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임베딩 유사도는 부정·수량·시간·인과 등 어떤 핵심 사실을 보존해야 하는지 명시하지 못한다.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370332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BF0F1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3995928"/>
            <a:ext cx="502920" cy="502920"/>
          </a:xfrm>
          <a:prstGeom prst="ellipse">
            <a:avLst/>
          </a:prstGeom>
          <a:solidFill>
            <a:srgbClr val="A9384A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1572768" y="3977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A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위조·오귀속 위험</a:t>
            </a:r>
            <a:endParaRPr lang="en-US" sz="1650" dirty="0"/>
          </a:p>
        </p:txBody>
      </p:sp>
      <p:sp>
        <p:nvSpPr>
          <p:cNvPr id="20" name="Text 18"/>
          <p:cNvSpPr/>
          <p:nvPr/>
        </p:nvSpPr>
        <p:spPr>
          <a:xfrm>
            <a:off x="969264" y="46634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임계값 판정은 위조(spoofing)와 오귀속에 취약하며, 비밀키 없이 외부에서 식별될 수 있다.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263640" y="3703320"/>
            <a:ext cx="5349240" cy="2011680"/>
          </a:xfrm>
          <a:prstGeom prst="roundRect">
            <a:avLst>
              <a:gd name="adj" fmla="val 3182"/>
            </a:avLst>
          </a:prstGeom>
          <a:solidFill>
            <a:srgbClr val="FBF0F1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3995928"/>
            <a:ext cx="502920" cy="502920"/>
          </a:xfrm>
          <a:prstGeom prst="ellipse">
            <a:avLst/>
          </a:prstGeom>
          <a:solidFill>
            <a:srgbClr val="A9384A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3995928"/>
            <a:ext cx="502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!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7196328" y="3977640"/>
            <a:ext cx="4206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50" b="1" dirty="0">
                <a:solidFill>
                  <a:srgbClr val="8A2A36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교차언어 소실</a:t>
            </a:r>
            <a:endParaRPr lang="en-US" sz="1650" dirty="0"/>
          </a:p>
        </p:txBody>
      </p:sp>
      <p:sp>
        <p:nvSpPr>
          <p:cNvPr id="25" name="Text 23"/>
          <p:cNvSpPr/>
          <p:nvPr/>
        </p:nvSpPr>
        <p:spPr>
          <a:xfrm>
            <a:off x="6592824" y="4663440"/>
            <a:ext cx="470916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5A2A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번역은 표면 속성을 거의 전부 바꾸어 토큰 단위 신호를 크게 약화시킨다.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제4장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해결하고자 하는 과제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54480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896112" y="1792224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3E5C89"/>
          </a:solidFill>
          <a:ln/>
        </p:spPr>
      </p:sp>
      <p:sp>
        <p:nvSpPr>
          <p:cNvPr id="8" name="Text 6"/>
          <p:cNvSpPr/>
          <p:nvPr/>
        </p:nvSpPr>
        <p:spPr>
          <a:xfrm>
            <a:off x="896112" y="1792224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1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468880" y="1554480"/>
            <a:ext cx="8961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의미보존 변형(번역·패러프레이즈)에도 유지되는 강건한 워터마크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640080" y="2670048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96112" y="2907792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3E5C89"/>
          </a:solidFill>
          <a:ln/>
        </p:spPr>
      </p:sp>
      <p:sp>
        <p:nvSpPr>
          <p:cNvPr id="12" name="Text 10"/>
          <p:cNvSpPr/>
          <p:nvPr/>
        </p:nvSpPr>
        <p:spPr>
          <a:xfrm>
            <a:off x="896112" y="2907792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2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2468880" y="2670048"/>
            <a:ext cx="8961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 없이는 위조 불가능한 인증형 출처 표시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3785616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96112" y="4023360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3E5C89"/>
          </a:solidFill>
          <a:ln/>
        </p:spPr>
      </p:sp>
      <p:sp>
        <p:nvSpPr>
          <p:cNvPr id="16" name="Text 14"/>
          <p:cNvSpPr/>
          <p:nvPr/>
        </p:nvSpPr>
        <p:spPr>
          <a:xfrm>
            <a:off x="896112" y="402336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468880" y="3785616"/>
            <a:ext cx="8961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의미(진리조건) 훼손을 자동으로 검출·차단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640080" y="4901184"/>
            <a:ext cx="10972800" cy="1024128"/>
          </a:xfrm>
          <a:prstGeom prst="roundRect">
            <a:avLst>
              <a:gd name="adj" fmla="val 6250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896112" y="5138928"/>
            <a:ext cx="1371600" cy="548640"/>
          </a:xfrm>
          <a:prstGeom prst="roundRect">
            <a:avLst>
              <a:gd name="adj" fmla="val 50000"/>
            </a:avLst>
          </a:prstGeom>
          <a:solidFill>
            <a:srgbClr val="3E5C89"/>
          </a:solidFill>
          <a:ln/>
        </p:spPr>
      </p:sp>
      <p:sp>
        <p:nvSpPr>
          <p:cNvPr id="20" name="Text 18"/>
          <p:cNvSpPr/>
          <p:nvPr/>
        </p:nvSpPr>
        <p:spPr>
          <a:xfrm>
            <a:off x="896112" y="5138928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4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468880" y="4901184"/>
            <a:ext cx="8961120" cy="1024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재학습 없이 적용, 낮은 오탐률과 유한한 지연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제5장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과제 해결 수단 (발명의 핵심)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640080" y="1600200"/>
            <a:ext cx="109728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① 텍스트의 진리조건 불변식(개체·서술·부정·수량·시간·인과·출처)을 타입 지정 계약으로 ‘잠금’ 처리한다.</a:t>
            </a:r>
            <a:endParaRPr lang="en-US" sz="15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② 의미를 바꾸지 않는 실현 자유도(태·어순·절 포장 등)만을 워터마크 반송파(캐리어)로 사용한다.</a:t>
            </a:r>
            <a:endParaRPr lang="en-US" sz="15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③ 인증 페이로드 p = m ∥ MAC_K(m ∥ n ∥ h_I) 를 오류정정부호(ECC)로 다수 문장에 분산 삽입한다.</a:t>
            </a:r>
            <a:endParaRPr lang="en-US" sz="150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5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④ 캐리어 실현은 키·불변식 결속 사상 a*_j = π_j ⊕ c_j 로 수행하여 전역 규칙을 배제한다.</a:t>
            </a:r>
            <a:endParaRPr lang="en-US" sz="1500" dirty="0"/>
          </a:p>
          <a:p>
            <a:pPr marL="190500" indent="-190500">
              <a:buSzPct val="100000"/>
              <a:buChar char="•"/>
            </a:pPr>
            <a:r>
              <a:rPr lang="en-US" sz="15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⑤ 탐지는 재파싱→정규화→키 역매핑(소거)→ECC 복호→MAC 검증 순으로 수행한다.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640080" y="4709160"/>
            <a:ext cx="10972800" cy="1234440"/>
          </a:xfrm>
          <a:prstGeom prst="roundRect">
            <a:avLst>
              <a:gd name="adj" fmla="val 5926"/>
            </a:avLst>
          </a:prstGeom>
          <a:solidFill>
            <a:srgbClr val="1B2A4A"/>
          </a:solidFill>
          <a:ln/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960120" y="484632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8B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특징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60120" y="5230368"/>
            <a:ext cx="10332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다이제스트 h_I가 페이로드를 결속한다 → 핵심 의미를 훼손하는 변형은 h_I 변화로 MAC 검증에 실패하여 자동 차단되고, 표현만 바뀐 변형은 살아남은 캐리어와 ECC로 복구된다.</a:t>
            </a:r>
            <a:endParaRPr lang="en-US" sz="14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제6장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발명의 전체 구성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058400" y="566928"/>
            <a:ext cx="1490472" cy="457200"/>
          </a:xfrm>
          <a:prstGeom prst="roundRect">
            <a:avLst>
              <a:gd name="adj" fmla="val 12000"/>
            </a:avLst>
          </a:prstGeom>
          <a:solidFill>
            <a:srgbClr val="E4ECF7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566928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[도 1]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4173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인코딩부 (100)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7830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B2A4A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85800" y="17830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BD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110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IR 생성부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2606040" y="17830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2862072" y="17830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B2A4A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907792" y="17830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BD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120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잠금부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828032" y="17830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5084064" y="17830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B2A4A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129784" y="17830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BD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130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인증부(MAC)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7050024" y="17830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7306056" y="17830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B2A4A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351776" y="17830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BD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140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ECC 부호화부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9272016" y="17830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528048" y="17830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1B2A4A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73768" y="17830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BD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150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키드 실현부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10671048" y="2834640"/>
            <a:ext cx="0" cy="292608"/>
          </a:xfrm>
          <a:prstGeom prst="line">
            <a:avLst/>
          </a:prstGeom>
          <a:noFill/>
          <a:ln w="19050">
            <a:solidFill>
              <a:srgbClr val="3E5C89"/>
            </a:solidFill>
            <a:prstDash val="solid"/>
            <a:tailEnd type="triangle"/>
          </a:ln>
        </p:spPr>
      </p:sp>
      <p:sp>
        <p:nvSpPr>
          <p:cNvPr id="24" name="Text 22"/>
          <p:cNvSpPr/>
          <p:nvPr/>
        </p:nvSpPr>
        <p:spPr>
          <a:xfrm>
            <a:off x="640080" y="3063240"/>
            <a:ext cx="10972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i="1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워터마크 텍스트 → (변형/전송) → 탐지부 입력</a:t>
            </a:r>
            <a:endParaRPr lang="en-US" sz="1250" dirty="0"/>
          </a:p>
        </p:txBody>
      </p:sp>
      <p:sp>
        <p:nvSpPr>
          <p:cNvPr id="25" name="Text 23"/>
          <p:cNvSpPr/>
          <p:nvPr/>
        </p:nvSpPr>
        <p:spPr>
          <a:xfrm>
            <a:off x="640080" y="3474720"/>
            <a:ext cx="2743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탐지부 (200)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40080" y="38404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3E5C89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85800" y="38404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BD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210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파싱부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2606040" y="38404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500" dirty="0"/>
          </a:p>
        </p:txBody>
      </p:sp>
      <p:sp>
        <p:nvSpPr>
          <p:cNvPr id="29" name="Shape 27"/>
          <p:cNvSpPr/>
          <p:nvPr/>
        </p:nvSpPr>
        <p:spPr>
          <a:xfrm>
            <a:off x="2862072" y="38404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3E5C89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2907792" y="38404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BD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220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정규화부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828032" y="38404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5084064" y="38404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3E5C89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129784" y="38404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BD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230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역매핑부(소거)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7050024" y="38404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500" dirty="0"/>
          </a:p>
        </p:txBody>
      </p:sp>
      <p:sp>
        <p:nvSpPr>
          <p:cNvPr id="35" name="Shape 33"/>
          <p:cNvSpPr/>
          <p:nvPr/>
        </p:nvSpPr>
        <p:spPr>
          <a:xfrm>
            <a:off x="7306056" y="38404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3E5C89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7351776" y="38404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BD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240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ECC 복호부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9272016" y="3840480"/>
            <a:ext cx="256032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500" dirty="0"/>
          </a:p>
        </p:txBody>
      </p:sp>
      <p:sp>
        <p:nvSpPr>
          <p:cNvPr id="38" name="Shape 36"/>
          <p:cNvSpPr/>
          <p:nvPr/>
        </p:nvSpPr>
        <p:spPr>
          <a:xfrm>
            <a:off x="9528048" y="3840480"/>
            <a:ext cx="1965960" cy="1051560"/>
          </a:xfrm>
          <a:prstGeom prst="roundRect">
            <a:avLst>
              <a:gd name="adj" fmla="val 5217"/>
            </a:avLst>
          </a:prstGeom>
          <a:solidFill>
            <a:srgbClr val="3E5C89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573768" y="3840480"/>
            <a:ext cx="18745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ct val="102000"/>
              </a:lnSpc>
              <a:buNone/>
            </a:pPr>
            <a:r>
              <a:rPr lang="en-US" sz="1100" b="1" dirty="0">
                <a:solidFill>
                  <a:srgbClr val="CBD8EC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250
</a:t>
            </a:r>
            <a:pPr algn="ctr" indent="0" marL="0">
              <a:lnSpc>
                <a:spcPct val="1020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 검증부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640080" y="52120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5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비밀키 K, 문서 논스 n, 불변식 다이제스트 h_I 는 인코딩부·탐지부가 공유한다. (구성요소 번호는 청구범위 작성 시 도면부호로 사용)</a:t>
            </a:r>
            <a:endParaRPr lang="en-US" sz="12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제7장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주요 구성요소 상세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640080" y="150876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E4ECF7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50876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잠금부 (120)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932688" y="21945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의미 필드에 locked·conditional·realization-only 타입(mutability)을 부여하고 진리조건을 계약화. 후보 실현을 계약에 대해 재검증.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6263640" y="150876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263640" y="150876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E4ECF7"/>
          </a:solidFill>
          <a:ln/>
        </p:spPr>
      </p:sp>
      <p:sp>
        <p:nvSpPr>
          <p:cNvPr id="12" name="Text 10"/>
          <p:cNvSpPr/>
          <p:nvPr/>
        </p:nvSpPr>
        <p:spPr>
          <a:xfrm>
            <a:off x="6537960" y="150876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인증부 (130)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6556248" y="219456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HMAC 기반으로 페이로드에 인증 태그를 부가. 통계적 일치가 아니라 태그 검증으로 귀속 → 위조 방지.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40080" y="374904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374904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E4ECF7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374904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ECC 부호화부 (140)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932688" y="4434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체계적 GF(2) 부호로 페이로드를 다수 캐리어에 분산. 소거(erasure) 복호로 일부 캐리어 소실 시에도 복구.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6263640" y="374904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263640" y="3749040"/>
            <a:ext cx="5349240" cy="566928"/>
          </a:xfrm>
          <a:prstGeom prst="roundRect">
            <a:avLst>
              <a:gd name="adj" fmla="val 11290"/>
            </a:avLst>
          </a:prstGeom>
          <a:solidFill>
            <a:srgbClr val="E4ECF7"/>
          </a:solidFill>
          <a:ln/>
        </p:spPr>
      </p:sp>
      <p:sp>
        <p:nvSpPr>
          <p:cNvPr id="20" name="Text 18"/>
          <p:cNvSpPr/>
          <p:nvPr/>
        </p:nvSpPr>
        <p:spPr>
          <a:xfrm>
            <a:off x="6537960" y="3749040"/>
            <a:ext cx="484632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키드 실현부 (150)</a:t>
            </a:r>
            <a:endParaRPr lang="en-US" sz="1500" dirty="0"/>
          </a:p>
        </p:txBody>
      </p:sp>
      <p:sp>
        <p:nvSpPr>
          <p:cNvPr id="21" name="Text 19"/>
          <p:cNvSpPr/>
          <p:nvPr/>
        </p:nvSpPr>
        <p:spPr>
          <a:xfrm>
            <a:off x="6556248" y="4434840"/>
            <a:ext cx="475488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a*_j = π_j ⊕ c_j (π_j = 키·h_I·논스·캐리어ID 결속). 전역 규칙이 없어 외부 식별·위조 곤란.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제8장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동작 흐름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058400" y="566928"/>
            <a:ext cx="1490472" cy="457200"/>
          </a:xfrm>
          <a:prstGeom prst="roundRect">
            <a:avLst>
              <a:gd name="adj" fmla="val 12000"/>
            </a:avLst>
          </a:prstGeom>
          <a:solidFill>
            <a:srgbClr val="E4ECF7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566928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[도 2]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640080" y="158191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인코딩 절차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640080" y="1874520"/>
            <a:ext cx="2004365" cy="96012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94944" y="1920240"/>
            <a:ext cx="18946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S110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추출·잠금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644445" y="1874520"/>
            <a:ext cx="237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2882189" y="1874520"/>
            <a:ext cx="2004365" cy="96012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2937053" y="1920240"/>
            <a:ext cx="18946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S120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페이로드 인증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p=m‖MAC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4886554" y="1874520"/>
            <a:ext cx="237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124298" y="1874520"/>
            <a:ext cx="2004365" cy="96012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5179162" y="1920240"/>
            <a:ext cx="18946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S130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ECC 부호화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7128662" y="1874520"/>
            <a:ext cx="237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66406" y="1874520"/>
            <a:ext cx="2004365" cy="96012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7421270" y="1920240"/>
            <a:ext cx="18946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S140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키드 캐리어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실현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9370771" y="1874520"/>
            <a:ext cx="237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9608515" y="1874520"/>
            <a:ext cx="2004365" cy="96012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9663379" y="1920240"/>
            <a:ext cx="18946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S150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계약 재검증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·출력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0080" y="3319272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 절차</a:t>
            </a:r>
            <a:endParaRPr lang="en-US" sz="1300" dirty="0"/>
          </a:p>
        </p:txBody>
      </p:sp>
      <p:sp>
        <p:nvSpPr>
          <p:cNvPr id="24" name="Shape 22"/>
          <p:cNvSpPr/>
          <p:nvPr/>
        </p:nvSpPr>
        <p:spPr>
          <a:xfrm>
            <a:off x="640080" y="3611880"/>
            <a:ext cx="2004365" cy="96012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694944" y="3657600"/>
            <a:ext cx="18946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S210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세그먼트·파싱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2644445" y="3611880"/>
            <a:ext cx="237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27" name="Shape 25"/>
          <p:cNvSpPr/>
          <p:nvPr/>
        </p:nvSpPr>
        <p:spPr>
          <a:xfrm>
            <a:off x="2882189" y="3611880"/>
            <a:ext cx="2004365" cy="96012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2937053" y="3657600"/>
            <a:ext cx="18946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S220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h_I′ 정규화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4886554" y="3611880"/>
            <a:ext cx="237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5124298" y="3611880"/>
            <a:ext cx="2004365" cy="96012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179162" y="3657600"/>
            <a:ext cx="18946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S230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역매핑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(소거 표기)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7128662" y="3611880"/>
            <a:ext cx="237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7366406" y="3611880"/>
            <a:ext cx="2004365" cy="96012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34" name="Text 32"/>
          <p:cNvSpPr/>
          <p:nvPr/>
        </p:nvSpPr>
        <p:spPr>
          <a:xfrm>
            <a:off x="7421270" y="3657600"/>
            <a:ext cx="18946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S240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ECC 복호 p̂</a:t>
            </a:r>
            <a:endParaRPr lang="en-US" sz="1150" dirty="0"/>
          </a:p>
        </p:txBody>
      </p:sp>
      <p:sp>
        <p:nvSpPr>
          <p:cNvPr id="35" name="Text 33"/>
          <p:cNvSpPr/>
          <p:nvPr/>
        </p:nvSpPr>
        <p:spPr>
          <a:xfrm>
            <a:off x="9370771" y="3611880"/>
            <a:ext cx="237744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3E5C89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▸</a:t>
            </a:r>
            <a:endParaRPr lang="en-US" sz="1400" dirty="0"/>
          </a:p>
        </p:txBody>
      </p:sp>
      <p:sp>
        <p:nvSpPr>
          <p:cNvPr id="36" name="Shape 34"/>
          <p:cNvSpPr/>
          <p:nvPr/>
        </p:nvSpPr>
        <p:spPr>
          <a:xfrm>
            <a:off x="9608515" y="3611880"/>
            <a:ext cx="2004365" cy="960120"/>
          </a:xfrm>
          <a:prstGeom prst="roundRect">
            <a:avLst>
              <a:gd name="adj" fmla="val 6667"/>
            </a:avLst>
          </a:prstGeom>
          <a:solidFill>
            <a:srgbClr val="F4F8FC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37" name="Text 35"/>
          <p:cNvSpPr/>
          <p:nvPr/>
        </p:nvSpPr>
        <p:spPr>
          <a:xfrm>
            <a:off x="9663379" y="3657600"/>
            <a:ext cx="1894637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S250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 검증</a:t>
            </a:r>
            <a:endParaRPr lang="en-US" sz="1150" dirty="0"/>
          </a:p>
          <a:p>
            <a:pPr algn="ctr" indent="0" marL="0">
              <a:buNone/>
            </a:pPr>
            <a:r>
              <a:rPr lang="en-US" sz="11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→ 귀속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40080" y="4937760"/>
            <a:ext cx="10972800" cy="960120"/>
          </a:xfrm>
          <a:prstGeom prst="roundRect">
            <a:avLst>
              <a:gd name="adj" fmla="val 7619"/>
            </a:avLst>
          </a:prstGeom>
          <a:solidFill>
            <a:srgbClr val="E4ECF7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960120" y="4937760"/>
            <a:ext cx="10332720" cy="960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탐지는 완전복구 실패 시 보정된 통계 점수 z 를 폴백으로 산출할 수 있으며, 인증(MAC) 검증을 1차 판정 기준으로 한다.</a:t>
            </a:r>
            <a:endParaRPr lang="en-US" sz="13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제9장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실시예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0058400" y="566928"/>
            <a:ext cx="1490472" cy="457200"/>
          </a:xfrm>
          <a:prstGeom prst="roundRect">
            <a:avLst>
              <a:gd name="adj" fmla="val 12000"/>
            </a:avLst>
          </a:prstGeom>
          <a:solidFill>
            <a:srgbClr val="E4ECF7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0058400" y="566928"/>
            <a:ext cx="14904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[도 3]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10972800" cy="1371600"/>
          </a:xfrm>
          <a:prstGeom prst="roundRect">
            <a:avLst>
              <a:gd name="adj" fmla="val 4667"/>
            </a:avLst>
          </a:prstGeom>
          <a:solidFill>
            <a:srgbClr val="E4ECF7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914400" y="1572768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실시예 문장 (능동/수동 태 + 시간구 위치를 캐리어로 사용)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914400" y="1938528"/>
            <a:ext cx="104241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“On the previous day, the server error was fixed by the developer.”</a:t>
            </a:r>
            <a:endParaRPr lang="en-US" sz="13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130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= FIX(agent=developer, patient=server_error), 극성=positive, 시간=previous_day (잠금)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063240"/>
            <a:ext cx="10972800" cy="1417320"/>
          </a:xfrm>
          <a:prstGeom prst="roundRect">
            <a:avLst>
              <a:gd name="adj" fmla="val 4516"/>
            </a:avLst>
          </a:prstGeom>
          <a:solidFill>
            <a:srgbClr val="E7F4F0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914400" y="333756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1E5A46"/>
          </a:solidFill>
          <a:ln/>
        </p:spPr>
      </p:sp>
      <p:sp>
        <p:nvSpPr>
          <p:cNvPr id="13" name="Text 11"/>
          <p:cNvSpPr/>
          <p:nvPr/>
        </p:nvSpPr>
        <p:spPr>
          <a:xfrm>
            <a:off x="914400" y="333756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의미보존 변형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474720" y="3063240"/>
            <a:ext cx="7955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영→한 번역이 태(voice) 캐리어를 정규화 → 해당 캐리어는 소거로 처리되나, 시간구 캐리어와 인접 문장으로 페이로드 복구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40080" y="4572000"/>
            <a:ext cx="10972800" cy="1417320"/>
          </a:xfrm>
          <a:prstGeom prst="roundRect">
            <a:avLst>
              <a:gd name="adj" fmla="val 4516"/>
            </a:avLst>
          </a:prstGeom>
          <a:solidFill>
            <a:srgbClr val="FBF0F1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914400" y="4846320"/>
            <a:ext cx="2377440" cy="502920"/>
          </a:xfrm>
          <a:prstGeom prst="roundRect">
            <a:avLst>
              <a:gd name="adj" fmla="val 10909"/>
            </a:avLst>
          </a:prstGeom>
          <a:solidFill>
            <a:srgbClr val="8A2A36"/>
          </a:solidFill>
          <a:ln/>
        </p:spPr>
      </p:sp>
      <p:sp>
        <p:nvSpPr>
          <p:cNvPr id="17" name="Text 15"/>
          <p:cNvSpPr/>
          <p:nvPr/>
        </p:nvSpPr>
        <p:spPr>
          <a:xfrm>
            <a:off x="914400" y="484632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의미훼손 변형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3474720" y="4572000"/>
            <a:ext cx="7955280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8000"/>
              </a:lnSpc>
              <a:buNone/>
            </a:pPr>
            <a:r>
              <a:rPr lang="en-US" sz="135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부정 삽입(“was not fixed”)은 극성(불변식) 변경 → h_I 변화 → MAC 검증 실패 → 변조 검출·미귀속</a:t>
            </a:r>
            <a:endParaRPr lang="en-US" sz="13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제10장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청구항 구성 (요지)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17320"/>
            <a:ext cx="10972800" cy="1965960"/>
          </a:xfrm>
          <a:prstGeom prst="roundRect">
            <a:avLst>
              <a:gd name="adj" fmla="val 3256"/>
            </a:avLst>
          </a:prstGeom>
          <a:solidFill>
            <a:srgbClr val="FBF6EA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914400" y="150876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8B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독립항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1874520"/>
            <a:ext cx="104241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4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[청구항 1 · 방법] 텍스트로부터 불변식을 추출·잠금하는 단계; 인증 페이로드를 생성하는 단계; 상기 페이로드를 오류정정부호로 부호화하는 단계; 키·불변식 결속 사상으로 캐리어를 실현하는 단계; 를 포함하는 텍스트 워터마킹 방법.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5A4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[청구항 8 · 장치] 상기 각 단계를 수행하는 인코딩부 및 탐지부를 포함하는 워터마킹 장치.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5A4A2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[청구항 15 · 매체] 상기 방법을 실행시키는 프로그램을 저장한 컴퓨터 판독가능 기록매체.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40080" y="3520440"/>
            <a:ext cx="10972800" cy="2331720"/>
          </a:xfrm>
          <a:prstGeom prst="roundRect">
            <a:avLst>
              <a:gd name="adj" fmla="val 2745"/>
            </a:avLst>
          </a:prstGeom>
          <a:solidFill>
            <a:srgbClr val="E4ECF7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914400" y="3611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종속항 (요지)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960120" y="3977640"/>
            <a:ext cx="1042416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불변식 다이제스트 h_I 를 페이로드 인증 입력에 결속하는 것을 특징으로 하는 …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오류정정부호가 소거(erasure) 복호를 수행하여 일부 캐리어 소실 시에도 복구하는 …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인증이 메시지인증코드(MAC) 검증에 의해 귀속을 판정하는 …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각 의미 필드에 locked/conditional/realization-only 타입을 부여하는 …</a:t>
            </a:r>
            <a:endParaRPr lang="en-US" sz="1250" dirty="0"/>
          </a:p>
          <a:p>
            <a:pPr marL="190500" indent="-190500">
              <a:spcAft>
                <a:spcPts val="700"/>
              </a:spcAft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복수 언어를 공통 표현으로 정규화하여 교차언어 탐지를 수행하는 …</a:t>
            </a:r>
            <a:endParaRPr lang="en-US" sz="1250" dirty="0"/>
          </a:p>
          <a:p>
            <a:pPr marL="190500" indent="-190500">
              <a:buSzPct val="100000"/>
              <a:buChar char="•"/>
            </a:pPr>
            <a:r>
              <a:rPr lang="en-US" sz="12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완전복구 실패 시 보정된 통계 점수를 폴백으로 산출하는 …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640080" y="598932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※ 상기 청구항은 요지이며, 최종 청구범위·문언은 변리사 검토를 거쳐 확정.</a:t>
            </a:r>
            <a:endParaRPr lang="en-US" sz="11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제11장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발명의 효과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50876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914400" y="1783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98B34"/>
          </a:solidFill>
          <a:ln/>
        </p:spPr>
      </p:sp>
      <p:sp>
        <p:nvSpPr>
          <p:cNvPr id="8" name="Text 6"/>
          <p:cNvSpPr/>
          <p:nvPr/>
        </p:nvSpPr>
        <p:spPr>
          <a:xfrm>
            <a:off x="91440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1645920" y="17830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번역·패러프레이즈 강건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950976" y="246888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표현이 바뀌어도 의미 기반 신호가 유지되어 종래 토큰 방식의 취약성을 해소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263640" y="150876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537960" y="178308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98B34"/>
          </a:solidFill>
          <a:ln/>
        </p:spPr>
      </p:sp>
      <p:sp>
        <p:nvSpPr>
          <p:cNvPr id="13" name="Text 11"/>
          <p:cNvSpPr/>
          <p:nvPr/>
        </p:nvSpPr>
        <p:spPr>
          <a:xfrm>
            <a:off x="6537960" y="178308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269480" y="178308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위조 불가·낮은 오탐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6574536" y="246888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귀속이 MAC 검증에 환원되어 위조가 곤란하고, 암호학적 오탐률이 태그 길이로 상한(≤ 2⁻ᵗᵃᵘ)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640080" y="374904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914400" y="4023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98B34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4023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1645920" y="40233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훼손 자동 차단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950976" y="47091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핵심 의미를 바꾸는 변형은 검증 실패로 미귀속 처리되어 오귀속을 방지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263640" y="3749040"/>
            <a:ext cx="5349240" cy="2057400"/>
          </a:xfrm>
          <a:prstGeom prst="roundRect">
            <a:avLst>
              <a:gd name="adj" fmla="val 3111"/>
            </a:avLst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  <a:effectLst>
            <a:outerShdw sx="100000" sy="100000" kx="0" ky="0" algn="bl" rotWithShape="0" blurRad="88900" dist="38100" dir="5400000">
              <a:srgbClr val="8494A6">
                <a:alpha val="25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6537960" y="4023360"/>
            <a:ext cx="566928" cy="566928"/>
          </a:xfrm>
          <a:prstGeom prst="roundRect">
            <a:avLst>
              <a:gd name="adj" fmla="val 50000"/>
            </a:avLst>
          </a:prstGeom>
          <a:solidFill>
            <a:srgbClr val="B98B34"/>
          </a:solidFill>
          <a:ln/>
        </p:spPr>
      </p:sp>
      <p:sp>
        <p:nvSpPr>
          <p:cNvPr id="23" name="Text 21"/>
          <p:cNvSpPr/>
          <p:nvPr/>
        </p:nvSpPr>
        <p:spPr>
          <a:xfrm>
            <a:off x="6537960" y="4023360"/>
            <a:ext cx="566928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✓</a:t>
            </a:r>
            <a:endParaRPr lang="en-US" sz="2000" dirty="0"/>
          </a:p>
        </p:txBody>
      </p:sp>
      <p:sp>
        <p:nvSpPr>
          <p:cNvPr id="24" name="Text 22"/>
          <p:cNvSpPr/>
          <p:nvPr/>
        </p:nvSpPr>
        <p:spPr>
          <a:xfrm>
            <a:off x="7269480" y="4023360"/>
            <a:ext cx="41148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용이·유한 지연</a:t>
            </a:r>
            <a:endParaRPr lang="en-US" sz="1600" dirty="0"/>
          </a:p>
        </p:txBody>
      </p:sp>
      <p:sp>
        <p:nvSpPr>
          <p:cNvPr id="25" name="Text 23"/>
          <p:cNvSpPr/>
          <p:nvPr/>
        </p:nvSpPr>
        <p:spPr>
          <a:xfrm>
            <a:off x="6574536" y="4709160"/>
            <a:ext cx="4754880" cy="9601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08000"/>
              </a:lnSpc>
              <a:buNone/>
            </a:pPr>
            <a:r>
              <a:rPr lang="en-US" sz="1300" dirty="0">
                <a:solidFill>
                  <a:srgbClr val="33434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LLM 재학습 없이 적용, 암호·부호화 계층은 모델 크기와 무관하며 문서 길이에 선형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40080" y="502920"/>
            <a:ext cx="1371600" cy="566928"/>
          </a:xfrm>
          <a:prstGeom prst="roundRect">
            <a:avLst>
              <a:gd name="adj" fmla="val 9677"/>
            </a:avLst>
          </a:prstGeom>
          <a:solidFill>
            <a:srgbClr val="1B2A4A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502920"/>
            <a:ext cx="1371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제12장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2194560" y="475488"/>
            <a:ext cx="10058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종래기술 대비 신규성·진보성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640080" y="642823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67283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Truthprint — 특허 출원 준비 자료(변리사 검토용 초안)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640080" y="1463040"/>
            <a:ext cx="265176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146304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구분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3383280" y="1463040"/>
            <a:ext cx="320040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9" name="Text 7"/>
          <p:cNvSpPr/>
          <p:nvPr/>
        </p:nvSpPr>
        <p:spPr>
          <a:xfrm>
            <a:off x="3383280" y="1463040"/>
            <a:ext cx="32004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종래기술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675120" y="1463040"/>
            <a:ext cx="5120640" cy="502920"/>
          </a:xfrm>
          <a:prstGeom prst="rect">
            <a:avLst/>
          </a:prstGeom>
          <a:solidFill>
            <a:srgbClr val="1B2A4A"/>
          </a:solidFill>
          <a:ln/>
        </p:spPr>
      </p:sp>
      <p:sp>
        <p:nvSpPr>
          <p:cNvPr id="11" name="Text 9"/>
          <p:cNvSpPr/>
          <p:nvPr/>
        </p:nvSpPr>
        <p:spPr>
          <a:xfrm>
            <a:off x="6675120" y="1463040"/>
            <a:ext cx="51206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발명 (Truthprint)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40080" y="1965960"/>
            <a:ext cx="2651760" cy="749808"/>
          </a:xfrm>
          <a:prstGeom prst="rect">
            <a:avLst/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1965960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반송파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3383280" y="1965960"/>
            <a:ext cx="3200400" cy="749808"/>
          </a:xfrm>
          <a:prstGeom prst="rect">
            <a:avLst/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520440" y="1965960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토큰/임베딩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675120" y="1965960"/>
            <a:ext cx="5120640" cy="749808"/>
          </a:xfrm>
          <a:prstGeom prst="rect">
            <a:avLst/>
          </a:prstGeom>
          <a:solidFill>
            <a:srgbClr val="EAF1EC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12280" y="1965960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타입 지정 의미 불변식 계약의 실현 자유도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640080" y="2715768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77240" y="2715768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강건성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3383280" y="2715768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520440" y="2715768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번역·패러프레이즈에 취약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6675120" y="2715768"/>
            <a:ext cx="5120640" cy="749808"/>
          </a:xfrm>
          <a:prstGeom prst="rect">
            <a:avLst/>
          </a:prstGeom>
          <a:solidFill>
            <a:srgbClr val="EAF1EC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12280" y="2715768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의미보존 변형에 강건(분산+ECC+소거)</a:t>
            </a:r>
            <a:endParaRPr lang="en-US" sz="1250" dirty="0"/>
          </a:p>
        </p:txBody>
      </p:sp>
      <p:sp>
        <p:nvSpPr>
          <p:cNvPr id="24" name="Shape 22"/>
          <p:cNvSpPr/>
          <p:nvPr/>
        </p:nvSpPr>
        <p:spPr>
          <a:xfrm>
            <a:off x="640080" y="3465576"/>
            <a:ext cx="2651760" cy="749808"/>
          </a:xfrm>
          <a:prstGeom prst="rect">
            <a:avLst/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77240" y="3465576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귀속 판정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3383280" y="3465576"/>
            <a:ext cx="3200400" cy="749808"/>
          </a:xfrm>
          <a:prstGeom prst="rect">
            <a:avLst/>
          </a:prstGeom>
          <a:solidFill>
            <a:srgbClr val="F2F6FB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520440" y="3465576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통계 임계값</a:t>
            </a:r>
            <a:endParaRPr lang="en-US" sz="1250" dirty="0"/>
          </a:p>
        </p:txBody>
      </p:sp>
      <p:sp>
        <p:nvSpPr>
          <p:cNvPr id="28" name="Shape 26"/>
          <p:cNvSpPr/>
          <p:nvPr/>
        </p:nvSpPr>
        <p:spPr>
          <a:xfrm>
            <a:off x="6675120" y="3465576"/>
            <a:ext cx="5120640" cy="749808"/>
          </a:xfrm>
          <a:prstGeom prst="rect">
            <a:avLst/>
          </a:prstGeom>
          <a:solidFill>
            <a:srgbClr val="EAF1EC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6812280" y="3465576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MAC 인증 검증(위조 불가)</a:t>
            </a:r>
            <a:endParaRPr lang="en-US" sz="1250" dirty="0"/>
          </a:p>
        </p:txBody>
      </p:sp>
      <p:sp>
        <p:nvSpPr>
          <p:cNvPr id="30" name="Shape 28"/>
          <p:cNvSpPr/>
          <p:nvPr/>
        </p:nvSpPr>
        <p:spPr>
          <a:xfrm>
            <a:off x="640080" y="4215384"/>
            <a:ext cx="265176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777240" y="4215384"/>
            <a:ext cx="237744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의미 보호</a:t>
            </a:r>
            <a:endParaRPr lang="en-US" sz="1250" dirty="0"/>
          </a:p>
        </p:txBody>
      </p:sp>
      <p:sp>
        <p:nvSpPr>
          <p:cNvPr id="32" name="Shape 30"/>
          <p:cNvSpPr/>
          <p:nvPr/>
        </p:nvSpPr>
        <p:spPr>
          <a:xfrm>
            <a:off x="3383280" y="4215384"/>
            <a:ext cx="3200400" cy="749808"/>
          </a:xfrm>
          <a:prstGeom prst="rect">
            <a:avLst/>
          </a:prstGeom>
          <a:solidFill>
            <a:srgbClr val="FFFFFF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3520440" y="4215384"/>
            <a:ext cx="292608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C243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명시적 보호 없음</a:t>
            </a:r>
            <a:endParaRPr lang="en-US" sz="1250" dirty="0"/>
          </a:p>
        </p:txBody>
      </p:sp>
      <p:sp>
        <p:nvSpPr>
          <p:cNvPr id="34" name="Shape 32"/>
          <p:cNvSpPr/>
          <p:nvPr/>
        </p:nvSpPr>
        <p:spPr>
          <a:xfrm>
            <a:off x="6675120" y="4215384"/>
            <a:ext cx="5120640" cy="749808"/>
          </a:xfrm>
          <a:prstGeom prst="rect">
            <a:avLst/>
          </a:prstGeom>
          <a:solidFill>
            <a:srgbClr val="EAF1EC"/>
          </a:solidFill>
          <a:ln w="12700">
            <a:solidFill>
              <a:srgbClr val="D2DCE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12280" y="4215384"/>
            <a:ext cx="48463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F4A3E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진리조건 불변식을 h_I로 결속·자동 검출</a:t>
            </a:r>
            <a:endParaRPr lang="en-US" sz="1250" dirty="0"/>
          </a:p>
        </p:txBody>
      </p:sp>
      <p:sp>
        <p:nvSpPr>
          <p:cNvPr id="36" name="Shape 34"/>
          <p:cNvSpPr/>
          <p:nvPr/>
        </p:nvSpPr>
        <p:spPr>
          <a:xfrm>
            <a:off x="640080" y="5102352"/>
            <a:ext cx="10972800" cy="777240"/>
          </a:xfrm>
          <a:prstGeom prst="roundRect">
            <a:avLst>
              <a:gd name="adj" fmla="val 9412"/>
            </a:avLst>
          </a:prstGeom>
          <a:solidFill>
            <a:srgbClr val="1B2A4A"/>
          </a:solidFill>
          <a:ln/>
        </p:spPr>
      </p:sp>
      <p:sp>
        <p:nvSpPr>
          <p:cNvPr id="37" name="Text 35"/>
          <p:cNvSpPr/>
          <p:nvPr/>
        </p:nvSpPr>
        <p:spPr>
          <a:xfrm>
            <a:off x="960120" y="5102352"/>
            <a:ext cx="103327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5000"/>
              </a:lnSpc>
              <a:buNone/>
            </a:pPr>
            <a:r>
              <a:rPr lang="en-US" sz="13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진보성 요지: ‘무엇을 보존해야 하는가’를 타입 계약으로 기계검증하고, 인증 페이로드를 불변식에 결속하는 구성은 종래에 없던 기술적 특징이다.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B98B34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6400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B98B3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제13장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960120"/>
            <a:ext cx="10058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변형 실시례 및 권리범위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40080" y="196596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4365C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896112" y="2185416"/>
            <a:ext cx="310896" cy="310896"/>
          </a:xfrm>
          <a:prstGeom prst="ellipse">
            <a:avLst/>
          </a:prstGeom>
          <a:solidFill>
            <a:srgbClr val="B98B34"/>
          </a:solidFill>
          <a:ln/>
        </p:spPr>
      </p:sp>
      <p:sp>
        <p:nvSpPr>
          <p:cNvPr id="7" name="Text 5"/>
          <p:cNvSpPr/>
          <p:nvPr/>
        </p:nvSpPr>
        <p:spPr>
          <a:xfrm>
            <a:off x="1463040" y="196596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다국어 인터링구아 확장 — 여러 언어를 공통 의미표현으로 사상하여 교차언어 탐지</a:t>
            </a:r>
            <a:endParaRPr lang="en-US" sz="1450" dirty="0"/>
          </a:p>
        </p:txBody>
      </p:sp>
      <p:sp>
        <p:nvSpPr>
          <p:cNvPr id="8" name="Shape 6"/>
          <p:cNvSpPr/>
          <p:nvPr/>
        </p:nvSpPr>
        <p:spPr>
          <a:xfrm>
            <a:off x="640080" y="283464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4365C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96112" y="3054096"/>
            <a:ext cx="310896" cy="310896"/>
          </a:xfrm>
          <a:prstGeom prst="ellipse">
            <a:avLst/>
          </a:prstGeom>
          <a:solidFill>
            <a:srgbClr val="B98B34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283464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고차수(q-ary) 캐리어 및 다양한 오류정정부호로의 확장</a:t>
            </a:r>
            <a:endParaRPr lang="en-US" sz="1450" dirty="0"/>
          </a:p>
        </p:txBody>
      </p:sp>
      <p:sp>
        <p:nvSpPr>
          <p:cNvPr id="11" name="Shape 9"/>
          <p:cNvSpPr/>
          <p:nvPr/>
        </p:nvSpPr>
        <p:spPr>
          <a:xfrm>
            <a:off x="640080" y="370332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4365C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96112" y="3922776"/>
            <a:ext cx="310896" cy="310896"/>
          </a:xfrm>
          <a:prstGeom prst="ellipse">
            <a:avLst/>
          </a:prstGeom>
          <a:solidFill>
            <a:srgbClr val="B98B34"/>
          </a:solidFill>
          <a:ln/>
        </p:spPr>
      </p:sp>
      <p:sp>
        <p:nvSpPr>
          <p:cNvPr id="13" name="Text 11"/>
          <p:cNvSpPr/>
          <p:nvPr/>
        </p:nvSpPr>
        <p:spPr>
          <a:xfrm>
            <a:off x="1463040" y="370332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토큰 워터마크(예: 통계적 방식)와의 계층적 결합(저용량 구간 폴백)</a:t>
            </a:r>
            <a:endParaRPr lang="en-US" sz="1450" dirty="0"/>
          </a:p>
        </p:txBody>
      </p:sp>
      <p:sp>
        <p:nvSpPr>
          <p:cNvPr id="14" name="Shape 12"/>
          <p:cNvSpPr/>
          <p:nvPr/>
        </p:nvSpPr>
        <p:spPr>
          <a:xfrm>
            <a:off x="640080" y="4572000"/>
            <a:ext cx="10881360" cy="749808"/>
          </a:xfrm>
          <a:prstGeom prst="roundRect">
            <a:avLst>
              <a:gd name="adj" fmla="val 8537"/>
            </a:avLst>
          </a:prstGeom>
          <a:solidFill>
            <a:srgbClr val="24365C"/>
          </a:solidFill>
          <a:ln w="12700">
            <a:solidFill>
              <a:srgbClr val="3E5C89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896112" y="4791456"/>
            <a:ext cx="310896" cy="310896"/>
          </a:xfrm>
          <a:prstGeom prst="ellipse">
            <a:avLst/>
          </a:prstGeom>
          <a:solidFill>
            <a:srgbClr val="B98B34"/>
          </a:solidFill>
          <a:ln/>
        </p:spPr>
      </p:sp>
      <p:sp>
        <p:nvSpPr>
          <p:cNvPr id="16" name="Text 14"/>
          <p:cNvSpPr/>
          <p:nvPr/>
        </p:nvSpPr>
        <p:spPr>
          <a:xfrm>
            <a:off x="1463040" y="4572000"/>
            <a:ext cx="987552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50" dirty="0">
                <a:solidFill>
                  <a:srgbClr val="E4EDF7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적용 분야 — LLM 서비스 출처표시, 문서 진본성 검증, 규제(EU AI Act) 준수</a:t>
            </a:r>
            <a:endParaRPr lang="en-US" sz="1450" dirty="0"/>
          </a:p>
        </p:txBody>
      </p:sp>
      <p:sp>
        <p:nvSpPr>
          <p:cNvPr id="17" name="Shape 15"/>
          <p:cNvSpPr/>
          <p:nvPr/>
        </p:nvSpPr>
        <p:spPr>
          <a:xfrm>
            <a:off x="640080" y="5623560"/>
            <a:ext cx="10881360" cy="640080"/>
          </a:xfrm>
          <a:prstGeom prst="roundRect">
            <a:avLst>
              <a:gd name="adj" fmla="val 11429"/>
            </a:avLst>
          </a:prstGeom>
          <a:solidFill>
            <a:srgbClr val="24365C"/>
          </a:solidFill>
          <a:ln w="12700">
            <a:solidFill>
              <a:srgbClr val="B98B34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960120" y="5623560"/>
            <a:ext cx="102412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C7D5EA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본 발명은 상기 실시례에 한정되지 않으며, 청구범위는 변리사 검토를 거쳐 확정된다.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Truthprint 특허 출원 발명 설명 자료</dc:title>
  <dc:subject>PptxGenJS Presentation</dc:subject>
  <dc:creator>Truthprint</dc:creator>
  <cp:lastModifiedBy>Truthprint</cp:lastModifiedBy>
  <cp:revision>1</cp:revision>
  <dcterms:created xsi:type="dcterms:W3CDTF">2026-07-23T00:04:08Z</dcterms:created>
  <dcterms:modified xsi:type="dcterms:W3CDTF">2026-07-23T00:04:08Z</dcterms:modified>
</cp:coreProperties>
</file>