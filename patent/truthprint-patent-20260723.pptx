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98B3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7D5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 출원 준비 자료 · 발명 설명서(초안)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3327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불변식 계약 기반</a:t>
            </a:r>
            <a:endParaRPr lang="en-US" sz="38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번역·패러프레이즈 강건 텍스트 출처 워터마킹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352044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FB3D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Truthprint: An Invariant-Constrained Semantic Provenance Watermarking Method and System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24365C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434340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발명자: </a:t>
            </a:r>
            <a:pPr indent="0" marL="0">
              <a:buNone/>
            </a:pPr>
            <a:r>
              <a:rPr lang="en-US" sz="1500" dirty="0">
                <a:solidFill>
                  <a:srgbClr val="D6E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(성명 기입)      </a:t>
            </a:r>
            <a:pPr indent="0" marL="0">
              <a:buNone/>
            </a:pPr>
            <a:r>
              <a:rPr lang="en-US" sz="15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출원인: </a:t>
            </a:r>
            <a:pPr indent="0" marL="0">
              <a:buNone/>
            </a:pPr>
            <a:r>
              <a:rPr lang="en-US" sz="1500" dirty="0">
                <a:solidFill>
                  <a:srgbClr val="D6E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(기관 기입)      </a:t>
            </a:r>
            <a:pPr indent="0" marL="0">
              <a:buNone/>
            </a:pPr>
            <a:r>
              <a:rPr lang="en-US" sz="15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정리번호: </a:t>
            </a:r>
            <a:pPr indent="0" marL="0">
              <a:buNone/>
            </a:pPr>
            <a:r>
              <a:rPr lang="en-US" sz="1500" dirty="0">
                <a:solidFill>
                  <a:srgbClr val="D6E1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TP-2026-001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자료는 발명의 요지 설명을 위한 초안이며, 청구범위는 변리사 검토를 거쳐 확정되어야 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발명의 명칭 · 기술분야 · 요약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371600"/>
            <a:ext cx="10972800" cy="1234440"/>
          </a:xfrm>
          <a:prstGeom prst="roundRect">
            <a:avLst>
              <a:gd name="adj" fmla="val 5185"/>
            </a:avLst>
          </a:prstGeom>
          <a:solidFill>
            <a:srgbClr val="E4ECF7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48132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발명의 명칭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1828800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(국문) 의미 불변식 계약 기반 번역·패러프레이즈 강건 텍스트 출처 워터마킹 방법 및 장치</a:t>
            </a:r>
            <a:endParaRPr lang="en-US" sz="1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(영문) Invariant-Constrained Semantic Provenance Watermarking for Robust Text Attribution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743200"/>
            <a:ext cx="10972800" cy="914400"/>
          </a:xfrm>
          <a:prstGeom prst="roundRect">
            <a:avLst>
              <a:gd name="adj" fmla="val 700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283464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기술분야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14400" y="315468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생성 텍스트의 출처 표시(워터마킹) 및 판별 기술 — 자연어처리 및 정보보안 분야, 특히 생성형 언어모델 출력의 기계판독형 provenance 표시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10972800" cy="2194560"/>
          </a:xfrm>
          <a:prstGeom prst="roundRect">
            <a:avLst>
              <a:gd name="adj" fmla="val 2917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14400" y="390448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60120" y="4297680"/>
            <a:ext cx="104241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발명은 텍스트의 진리조건적 의미(불변식)를 타입 지정 계약으로 잠그고, 의미를 바꾸지 않는 실현 자유도만을 워터마크 반송파로 사용한다.</a:t>
            </a:r>
            <a:endParaRPr lang="en-US" sz="13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페이로드 p = m ∥ MAC_K(m∥n∥h_I)를 오류정정부호로 다수의 문장 단위에 분산 삽입하여, 번역·패러프레이즈로 일부가 소실되어도 복구되도록 한다.</a:t>
            </a:r>
            <a:endParaRPr lang="en-US" sz="1350" dirty="0"/>
          </a:p>
          <a:p>
            <a:pPr marL="190500" indent="-190500">
              <a:buSzPct val="100000"/>
              <a:buChar char="•"/>
            </a:pPr>
            <a:r>
              <a:rPr lang="en-US" sz="13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다이제스트 h_I가 페이로드를 결속하므로, 핵심 의미를 훼손하는 변형은 검증 실패로 자동 차단되고 위조가 불가능하다.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제2장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배경기술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1746504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746504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규제 환경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246120" y="1508760"/>
            <a:ext cx="81381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 LLM 확산으로 AI 생성물 표시 의무화 — EU AI Act 제50조는 기계판독 가능·탐지 가능 표시를 요구(2026.8 시행)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862072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862072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 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246120" y="2624328"/>
            <a:ext cx="81381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시점에 토큰 선택을 편향시키는 통계적 워터마킹(그린-레드 리스트, 토너먼트 샘플링 등)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3739896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3977640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39776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 B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46120" y="3739896"/>
            <a:ext cx="81381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문장/문맥 임베딩을 이용한 의미 기반 워터마킹(임베딩 영역 분할, 의미 불변 접근)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093208"/>
            <a:ext cx="2148840" cy="548640"/>
          </a:xfrm>
          <a:prstGeom prst="roundRect">
            <a:avLst>
              <a:gd name="adj" fmla="val 10000"/>
            </a:avLst>
          </a:prstGeom>
          <a:solidFill>
            <a:srgbClr val="1B2A4A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5093208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 C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246120" y="4855464"/>
            <a:ext cx="81381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인증·통계 검정을 결합한 판별(통계 임계값 기반 탐지)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제3장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종래기술의 문제점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5349240" cy="2011680"/>
          </a:xfrm>
          <a:prstGeom prst="roundRect">
            <a:avLst>
              <a:gd name="adj" fmla="val 3182"/>
            </a:avLst>
          </a:prstGeom>
          <a:solidFill>
            <a:srgbClr val="FBF0F1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801368"/>
            <a:ext cx="502920" cy="502920"/>
          </a:xfrm>
          <a:prstGeom prst="ellipse">
            <a:avLst/>
          </a:prstGeom>
          <a:solidFill>
            <a:srgbClr val="A9384A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72768" y="1783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2A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표면 신호의 취약성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969264" y="246888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통계 신호는 번역·패러프레이즈·재작성으로 토큰 결정이 교체되며 쉽게 제거된다.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349240" cy="2011680"/>
          </a:xfrm>
          <a:prstGeom prst="roundRect">
            <a:avLst>
              <a:gd name="adj" fmla="val 3182"/>
            </a:avLst>
          </a:prstGeom>
          <a:solidFill>
            <a:srgbClr val="FBF0F1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37960" y="1801368"/>
            <a:ext cx="502920" cy="502920"/>
          </a:xfrm>
          <a:prstGeom prst="ellipse">
            <a:avLst/>
          </a:prstGeom>
          <a:solidFill>
            <a:srgbClr val="A9384A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80136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196328" y="178308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2A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보존 범위의 불명확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592824" y="246888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임베딩 유사도는 부정·수량·시간·인과 등 어떤 핵심 사실을 보존해야 하는지 명시하지 못한다.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5349240" cy="2011680"/>
          </a:xfrm>
          <a:prstGeom prst="roundRect">
            <a:avLst>
              <a:gd name="adj" fmla="val 3182"/>
            </a:avLst>
          </a:prstGeom>
          <a:solidFill>
            <a:srgbClr val="FBF0F1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3995928"/>
            <a:ext cx="502920" cy="502920"/>
          </a:xfrm>
          <a:prstGeom prst="ellipse">
            <a:avLst/>
          </a:prstGeom>
          <a:solidFill>
            <a:srgbClr val="A9384A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3995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1572768" y="3977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2A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위조·오귀속 위험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69264" y="466344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임계값 판정은 위조(spoofing)와 오귀속에 취약하며, 비밀키 없이 외부에서 식별될 수 있다.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63640" y="3703320"/>
            <a:ext cx="5349240" cy="2011680"/>
          </a:xfrm>
          <a:prstGeom prst="roundRect">
            <a:avLst>
              <a:gd name="adj" fmla="val 3182"/>
            </a:avLst>
          </a:prstGeom>
          <a:solidFill>
            <a:srgbClr val="FBF0F1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37960" y="3995928"/>
            <a:ext cx="502920" cy="502920"/>
          </a:xfrm>
          <a:prstGeom prst="ellipse">
            <a:avLst/>
          </a:prstGeom>
          <a:solidFill>
            <a:srgbClr val="A9384A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399592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7196328" y="3977640"/>
            <a:ext cx="4206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A2A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교차언어 소실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6592824" y="4663440"/>
            <a:ext cx="4709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2A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번역은 표면 속성을 거의 전부 바꾸어 토큰 단위 신호를 크게 약화시킨다.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제4장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해결하고자 하는 과제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1792224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3E5C89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1792224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1554480"/>
            <a:ext cx="8961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의미보존 변형(번역·패러프레이즈)에도 유지되는 강건한 워터마크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670048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96112" y="2907792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3E5C89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2907792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2670048"/>
            <a:ext cx="8961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없이는 위조 불가능한 인증형 출처 표시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3785616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96112" y="4023360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3E5C89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" y="4023360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468880" y="3785616"/>
            <a:ext cx="8961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의미(진리조건) 훼손을 자동으로 검출·차단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4901184"/>
            <a:ext cx="10972800" cy="1024128"/>
          </a:xfrm>
          <a:prstGeom prst="roundRect">
            <a:avLst>
              <a:gd name="adj" fmla="val 6250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96112" y="5138928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3E5C89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5138928"/>
            <a:ext cx="1371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468880" y="4901184"/>
            <a:ext cx="896112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재학습 없이 적용, 낮은 오탐률과 유한한 지연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제5장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해결 수단 (발명의 핵심)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10972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텍스트의 진리조건 불변식(개체·서술·부정·수량·시간·인과·출처)을 타입 지정 계약으로 ‘잠금’ 처리한다.</a:t>
            </a:r>
            <a:endParaRPr lang="en-US" sz="15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의미를 바꾸지 않는 실현 자유도(태·어순·절 포장 등)만을 워터마크 반송파(캐리어)로 사용한다.</a:t>
            </a:r>
            <a:endParaRPr lang="en-US" sz="15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인증 페이로드 p = m ∥ MAC_K(m ∥ n ∥ h_I) 를 오류정정부호(ECC)로 다수 문장에 분산 삽입한다.</a:t>
            </a:r>
            <a:endParaRPr lang="en-US" sz="150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캐리어 실현은 키·불변식 결속 사상 a*_j = π_j ⊕ c_j 로 수행하여 전역 규칙을 배제한다.</a:t>
            </a:r>
            <a:endParaRPr lang="en-US" sz="1500" dirty="0"/>
          </a:p>
          <a:p>
            <a:pPr marL="190500" indent="-190500">
              <a:buSzPct val="100000"/>
              <a:buChar char="•"/>
            </a:pPr>
            <a:r>
              <a:rPr lang="en-US" sz="15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탐지는 재파싱→정규화→키 역매핑(소거)→ECC 복호→MAC 검증 순으로 수행한다.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709160"/>
            <a:ext cx="10972800" cy="1234440"/>
          </a:xfrm>
          <a:prstGeom prst="roundRect">
            <a:avLst>
              <a:gd name="adj" fmla="val 5926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48463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특징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5230368"/>
            <a:ext cx="10332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다이제스트 h_I가 페이로드를 결속한다 → 핵심 의미를 훼손하는 변형은 h_I 변화로 MAC 검증에 실패하여 자동 차단되고, 표현만 바뀐 변형은 살아남은 캐리어와 ECC로 복구된다.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제6장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발명의 전체 구성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058400" y="566928"/>
            <a:ext cx="1490472" cy="45720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0" y="566928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[도 1]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4173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인코딩부 (100)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7830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1B2A4A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830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IR 생성부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606040" y="17830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62072" y="17830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1B2A4A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07792" y="17830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잠금부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28032" y="17830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84064" y="17830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1B2A4A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29784" y="17830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인증부(MAC)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050024" y="17830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06056" y="17830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1B2A4A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51776" y="17830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ECC 부호화부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272016" y="17830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528048" y="17830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1B2A4A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3768" y="17830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키드 실현부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1048" y="2834640"/>
            <a:ext cx="0" cy="292608"/>
          </a:xfrm>
          <a:prstGeom prst="line">
            <a:avLst/>
          </a:prstGeom>
          <a:noFill/>
          <a:ln w="19050">
            <a:solidFill>
              <a:srgbClr val="3E5C89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640080" y="30632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워터마크 텍스트 → (변형/전송) → 탐지부 입력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0080" y="347472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탐지부 (200)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38404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3E5C89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38404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파싱부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606040" y="38404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862072" y="38404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3E5C89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07792" y="38404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정규화부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828032" y="38404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5084064" y="38404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3E5C89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29784" y="38404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역매핑부(소거)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050024" y="38404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7306056" y="38404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3E5C89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1776" y="38404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ECC 복호부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272016" y="3840480"/>
            <a:ext cx="25603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9528048" y="3840480"/>
            <a:ext cx="1965960" cy="1051560"/>
          </a:xfrm>
          <a:prstGeom prst="roundRect">
            <a:avLst>
              <a:gd name="adj" fmla="val 5217"/>
            </a:avLst>
          </a:prstGeom>
          <a:solidFill>
            <a:srgbClr val="3E5C89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73768" y="3840480"/>
            <a:ext cx="18745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BD8E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250
</a:t>
            </a:r>
            <a:pPr algn="ctr" indent="0" marL="0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검증부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40080" y="52120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비밀키 K, 문서 논스 n, 불변식 다이제스트 h_I 는 인코딩부·탐지부가 공유한다. (구성요소 번호는 청구범위 작성 시 도면부호로 사용)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제7장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구성요소 상세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508760"/>
            <a:ext cx="5349240" cy="566928"/>
          </a:xfrm>
          <a:prstGeom prst="roundRect">
            <a:avLst>
              <a:gd name="adj" fmla="val 11290"/>
            </a:avLst>
          </a:prstGeom>
          <a:solidFill>
            <a:srgbClr val="E4ECF7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50876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잠금부 (120)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32688" y="219456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의미 필드에 locked·conditional·realization-only 타입(mutability)을 부여하고 진리조건을 계약화. 후보 실현을 계약에 대해 재검증.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50876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1508760"/>
            <a:ext cx="5349240" cy="566928"/>
          </a:xfrm>
          <a:prstGeom prst="roundRect">
            <a:avLst>
              <a:gd name="adj" fmla="val 11290"/>
            </a:avLst>
          </a:prstGeom>
          <a:solidFill>
            <a:srgbClr val="E4ECF7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50876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인증부 (130)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56248" y="219456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HMAC 기반으로 페이로드에 인증 태그를 부가. 통계적 일치가 아니라 태그 검증으로 귀속 → 위조 방지.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3749040"/>
            <a:ext cx="5349240" cy="566928"/>
          </a:xfrm>
          <a:prstGeom prst="roundRect">
            <a:avLst>
              <a:gd name="adj" fmla="val 11290"/>
            </a:avLst>
          </a:prstGeom>
          <a:solidFill>
            <a:srgbClr val="E4ECF7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74904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ECC 부호화부 (140)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32688" y="44348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체계적 GF(2) 부호로 페이로드를 다수 캐리어에 분산. 소거(erasure) 복호로 일부 캐리어 소실 시에도 복구.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63640" y="374904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63640" y="3749040"/>
            <a:ext cx="5349240" cy="566928"/>
          </a:xfrm>
          <a:prstGeom prst="roundRect">
            <a:avLst>
              <a:gd name="adj" fmla="val 11290"/>
            </a:avLst>
          </a:prstGeom>
          <a:solidFill>
            <a:srgbClr val="E4ECF7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3749040"/>
            <a:ext cx="484632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키드 실현부 (150)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56248" y="4434840"/>
            <a:ext cx="47548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a*_j = π_j ⊕ c_j (π_j = 키·h_I·논스·캐리어ID 결속). 전역 규칙이 없어 외부 식별·위조 곤란.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제8장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흐름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058400" y="566928"/>
            <a:ext cx="1490472" cy="45720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0" y="566928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[도 2]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58191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인코딩 절차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187452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192024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추출·잠금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644445" y="187452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882189" y="187452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937053" y="192024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S120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페이로드 인증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p=m‖MAC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886554" y="187452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124298" y="187452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179162" y="192024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S130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ECC 부호화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128662" y="187452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66406" y="187452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421270" y="192024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S140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키드 캐리어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370771" y="187452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9608515" y="187452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663379" y="192024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S150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재검증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·출력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080" y="331927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 절차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361188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94944" y="365760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세그먼트·파싱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2644445" y="361188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2882189" y="361188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37053" y="365760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S220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h_I′ 정규화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886554" y="361188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5124298" y="361188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5179162" y="365760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S230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역매핑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(소거 표기)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128662" y="361188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366406" y="361188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421270" y="365760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S240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ECC 복호 p̂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370771" y="3611880"/>
            <a:ext cx="237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E5C8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9608515" y="3611880"/>
            <a:ext cx="2004365" cy="960120"/>
          </a:xfrm>
          <a:prstGeom prst="roundRect">
            <a:avLst>
              <a:gd name="adj" fmla="val 6667"/>
            </a:avLst>
          </a:prstGeom>
          <a:solidFill>
            <a:srgbClr val="F4F8FC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9663379" y="3657600"/>
            <a:ext cx="1894637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S250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검증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귀속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640080" y="4937760"/>
            <a:ext cx="10972800" cy="960120"/>
          </a:xfrm>
          <a:prstGeom prst="roundRect">
            <a:avLst>
              <a:gd name="adj" fmla="val 7619"/>
            </a:avLst>
          </a:prstGeom>
          <a:solidFill>
            <a:srgbClr val="E4ECF7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0120" y="493776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탐지는 완전복구 실패 시 보정된 통계 점수 z 를 폴백으로 산출할 수 있으며, 인증(MAC) 검증을 1차 판정 기준으로 한다.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제9장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실시예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10058400" y="566928"/>
            <a:ext cx="1490472" cy="457200"/>
          </a:xfrm>
          <a:prstGeom prst="roundRect">
            <a:avLst>
              <a:gd name="adj" fmla="val 12000"/>
            </a:avLst>
          </a:prstGeom>
          <a:solidFill>
            <a:srgbClr val="E4ECF7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0" y="566928"/>
            <a:ext cx="1490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[도 3]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463040"/>
            <a:ext cx="10972800" cy="1371600"/>
          </a:xfrm>
          <a:prstGeom prst="roundRect">
            <a:avLst>
              <a:gd name="adj" fmla="val 4667"/>
            </a:avLst>
          </a:prstGeom>
          <a:solidFill>
            <a:srgbClr val="E4ECF7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914400" y="157276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실시예 문장 (능동/수동 태 + 시간구 위치를 캐리어로 사용)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193852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“On the previous day, the server error was fixed by the developer.”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= FIX(agent=developer, patient=server_error), 극성=positive, 시간=previous_day (잠금)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063240"/>
            <a:ext cx="10972800" cy="1417320"/>
          </a:xfrm>
          <a:prstGeom prst="roundRect">
            <a:avLst>
              <a:gd name="adj" fmla="val 4516"/>
            </a:avLst>
          </a:prstGeom>
          <a:solidFill>
            <a:srgbClr val="E7F4F0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914400" y="333756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E5A46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33756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의미보존 변형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3063240"/>
            <a:ext cx="7955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영→한 번역이 태(voice) 캐리어를 정규화 → 해당 캐리어는 소거로 처리되나, 시간구 캐리어와 인접 문장으로 페이로드 복구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4572000"/>
            <a:ext cx="10972800" cy="1417320"/>
          </a:xfrm>
          <a:prstGeom prst="roundRect">
            <a:avLst>
              <a:gd name="adj" fmla="val 4516"/>
            </a:avLst>
          </a:prstGeom>
          <a:solidFill>
            <a:srgbClr val="FBF0F1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914400" y="484632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8A2A36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846320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의미훼손 변형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4572000"/>
            <a:ext cx="79552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부정 삽입(“was not fixed”)은 극성(불변식) 변경 → h_I 변화 → MAC 검증 실패 → 변조 검출·미귀속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제10장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청구항 구성 (요지)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17320"/>
            <a:ext cx="10972800" cy="1965960"/>
          </a:xfrm>
          <a:prstGeom prst="roundRect">
            <a:avLst>
              <a:gd name="adj" fmla="val 3256"/>
            </a:avLst>
          </a:prstGeom>
          <a:solidFill>
            <a:srgbClr val="FBF6EA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5087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독립항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60120" y="1874520"/>
            <a:ext cx="10424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4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[청구항 1 · 방법] 텍스트로부터 불변식을 추출·잠금하는 단계; 인증 페이로드를 생성하는 단계; 상기 페이로드를 오류정정부호로 부호화하는 단계; 키·불변식 결속 사상으로 캐리어를 실현하는 단계; 를 포함하는 텍스트 워터마킹 방법.</a:t>
            </a:r>
            <a:endParaRPr lang="en-US" sz="12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5A4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[청구항 8 · 장치] 상기 각 단계를 수행하는 인코딩부 및 탐지부를 포함하는 워터마킹 장치.</a:t>
            </a:r>
            <a:endParaRPr lang="en-US" sz="1250" dirty="0"/>
          </a:p>
          <a:p>
            <a:pPr marL="190500" indent="-190500">
              <a:buSzPct val="100000"/>
              <a:buChar char="•"/>
            </a:pPr>
            <a:r>
              <a:rPr lang="en-US" sz="1250" dirty="0">
                <a:solidFill>
                  <a:srgbClr val="5A4A2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[청구항 15 · 매체] 상기 방법을 실행시키는 프로그램을 저장한 컴퓨터 판독가능 기록매체.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520440"/>
            <a:ext cx="10972800" cy="2331720"/>
          </a:xfrm>
          <a:prstGeom prst="roundRect">
            <a:avLst>
              <a:gd name="adj" fmla="val 2745"/>
            </a:avLst>
          </a:prstGeom>
          <a:solidFill>
            <a:srgbClr val="E4ECF7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14400" y="3611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종속항 (요지)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960120" y="397764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불변식 다이제스트 h_I 를 페이로드 인증 입력에 결속하는 것을 특징으로 하는 …</a:t>
            </a:r>
            <a:endParaRPr lang="en-US" sz="12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오류정정부호가 소거(erasure) 복호를 수행하여 일부 캐리어 소실 시에도 복구하는 …</a:t>
            </a:r>
            <a:endParaRPr lang="en-US" sz="12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인증이 메시지인증코드(MAC) 검증에 의해 귀속을 판정하는 …</a:t>
            </a:r>
            <a:endParaRPr lang="en-US" sz="12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의미 필드에 locked/conditional/realization-only 타입을 부여하는 …</a:t>
            </a:r>
            <a:endParaRPr lang="en-US" sz="1250" dirty="0"/>
          </a:p>
          <a:p>
            <a:pPr marL="190500" indent="-1905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 언어를 공통 표현으로 정규화하여 교차언어 탐지를 수행하는 …</a:t>
            </a:r>
            <a:endParaRPr lang="en-US" sz="1250" dirty="0"/>
          </a:p>
          <a:p>
            <a:pPr marL="190500" indent="-190500">
              <a:buSzPct val="100000"/>
              <a:buChar char="•"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완전복구 실패 시 보정된 통계 점수를 폴백으로 산출하는 …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59893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상기 청구항은 요지이며, 최종 청구범위·문언은 변리사 검토를 거쳐 확정.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제11장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발명의 효과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0876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B98B34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645920" y="178308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번역·패러프레이즈 강건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50976" y="24688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표현이 바뀌어도 의미 기반 신호 유지 — Stage-1 실측: 번역 시 토큰 방식 TPR 0.00–0.02로 붕괴, 본 발명은 ≈1.00 생존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63640" y="150876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3796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B98B34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178308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78308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위조 불가·낮은 오탐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574536" y="246888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귀속이 MAC 검증에 환원되어 위조가 곤란하고, 암호학적 오탐률이 태그 길이로 상한(≤ 2⁻ᵗᵃᵘ)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4904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4023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B98B34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23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645920" y="402336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훼손 자동 차단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50976" y="470916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의미를 바꾸는 변형은 검증 실패로 미귀속 처리되어 오귀속을 방지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63640" y="3749040"/>
            <a:ext cx="5349240" cy="2057400"/>
          </a:xfrm>
          <a:prstGeom prst="roundRect">
            <a:avLst>
              <a:gd name="adj" fmla="val 3111"/>
            </a:avLst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  <a:effectLst>
            <a:outerShdw sx="100000" sy="100000" kx="0" ky="0" algn="bl" rotWithShape="0" blurRad="88900" dist="38100" dir="5400000">
              <a:srgbClr val="8494A6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37960" y="402336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B98B34"/>
          </a:solidFill>
          <a:ln/>
        </p:spPr>
      </p:sp>
      <p:sp>
        <p:nvSpPr>
          <p:cNvPr id="23" name="Text 21"/>
          <p:cNvSpPr/>
          <p:nvPr/>
        </p:nvSpPr>
        <p:spPr>
          <a:xfrm>
            <a:off x="6537960" y="402336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269480" y="4023360"/>
            <a:ext cx="41148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용이·유한 지연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574536" y="4709160"/>
            <a:ext cx="475488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dirty="0">
                <a:solidFill>
                  <a:srgbClr val="33434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재학습 없이 적용, 암호·부호화 계층은 모델 크기와 무관하며 문서 길이에 선형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71600" cy="566928"/>
          </a:xfrm>
          <a:prstGeom prst="roundRect">
            <a:avLst>
              <a:gd name="adj" fmla="val 9677"/>
            </a:avLst>
          </a:prstGeom>
          <a:solidFill>
            <a:srgbClr val="1B2A4A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71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제12장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2194560" y="475488"/>
            <a:ext cx="1005840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 대비 신규성·진보성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64282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728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Truthprint — 특허 출원 준비 자료(변리사 검토용 초안)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383280" y="1463040"/>
            <a:ext cx="320040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463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종래기술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675120" y="1463040"/>
            <a:ext cx="5120640" cy="5029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1463040"/>
            <a:ext cx="5120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발명 (Truthprint)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1965960"/>
            <a:ext cx="2651760" cy="749808"/>
          </a:xfrm>
          <a:prstGeom prst="rect">
            <a:avLst/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1965960"/>
            <a:ext cx="2377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반송파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83280" y="1965960"/>
            <a:ext cx="3200400" cy="749808"/>
          </a:xfrm>
          <a:prstGeom prst="rect">
            <a:avLst/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20440" y="196596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토큰/임베딩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675120" y="1965960"/>
            <a:ext cx="5120640" cy="749808"/>
          </a:xfrm>
          <a:prstGeom prst="rect">
            <a:avLst/>
          </a:prstGeom>
          <a:solidFill>
            <a:srgbClr val="EAF1EC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12280" y="1965960"/>
            <a:ext cx="4846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타입 지정 의미 불변식 계약의 실현 자유도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2715768"/>
            <a:ext cx="2651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715768"/>
            <a:ext cx="2377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강건성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383280" y="2715768"/>
            <a:ext cx="3200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20440" y="2715768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번역에 취약 (실측 TPR 0.00–0.02)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75120" y="2715768"/>
            <a:ext cx="5120640" cy="749808"/>
          </a:xfrm>
          <a:prstGeom prst="rect">
            <a:avLst/>
          </a:prstGeom>
          <a:solidFill>
            <a:srgbClr val="EAF1EC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15768"/>
            <a:ext cx="4846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의미보존 변형에 강건 (분산+ECC+소거; 실측 번역 TPR ≈1.00)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3465576"/>
            <a:ext cx="2651760" cy="749808"/>
          </a:xfrm>
          <a:prstGeom prst="rect">
            <a:avLst/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465576"/>
            <a:ext cx="2377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귀속 판정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3383280" y="3465576"/>
            <a:ext cx="3200400" cy="749808"/>
          </a:xfrm>
          <a:prstGeom prst="rect">
            <a:avLst/>
          </a:prstGeom>
          <a:solidFill>
            <a:srgbClr val="F2F6FB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520440" y="3465576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통계 임계값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675120" y="3465576"/>
            <a:ext cx="5120640" cy="749808"/>
          </a:xfrm>
          <a:prstGeom prst="rect">
            <a:avLst/>
          </a:prstGeom>
          <a:solidFill>
            <a:srgbClr val="EAF1EC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12280" y="3465576"/>
            <a:ext cx="4846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인증 검증(위조 불가)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4215384"/>
            <a:ext cx="265176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15384"/>
            <a:ext cx="2377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 보호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383280" y="4215384"/>
            <a:ext cx="3200400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520440" y="4215384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C24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명시적 보호 없음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75120" y="4215384"/>
            <a:ext cx="5120640" cy="749808"/>
          </a:xfrm>
          <a:prstGeom prst="rect">
            <a:avLst/>
          </a:prstGeom>
          <a:solidFill>
            <a:srgbClr val="EAF1EC"/>
          </a:solidFill>
          <a:ln w="12700">
            <a:solidFill>
              <a:srgbClr val="D2DCE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12280" y="4215384"/>
            <a:ext cx="48463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4A3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진리조건 불변식을 h_I로 결속·자동 검출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40080" y="5102352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1B2A4A"/>
          </a:solidFill>
          <a:ln/>
        </p:spPr>
      </p:sp>
      <p:sp>
        <p:nvSpPr>
          <p:cNvPr id="37" name="Text 35"/>
          <p:cNvSpPr/>
          <p:nvPr/>
        </p:nvSpPr>
        <p:spPr>
          <a:xfrm>
            <a:off x="960120" y="5102352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진보성 요지: ‘무엇을 보존해야 하는가’를 타입 계약으로 기계검증하고, 인증 페이로드를 불변식에 결속하는 구성은 종래에 없던 기술적 특징이다. Stage-1 참조구현 실측(베이스라인 4종 대비)이 이를 뒷받침한다 — 종래 토큰 방식은 번역에서 붕괴, 본 발명은 유지·인증.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B98B34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98B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제13장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9601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변형 실시례 및 권리범위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4365C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2185416"/>
            <a:ext cx="310896" cy="310896"/>
          </a:xfrm>
          <a:prstGeom prst="ellipse">
            <a:avLst/>
          </a:prstGeom>
          <a:solidFill>
            <a:srgbClr val="B98B34"/>
          </a:solidFill>
          <a:ln/>
        </p:spPr>
      </p:sp>
      <p:sp>
        <p:nvSpPr>
          <p:cNvPr id="7" name="Text 5"/>
          <p:cNvSpPr/>
          <p:nvPr/>
        </p:nvSpPr>
        <p:spPr>
          <a:xfrm>
            <a:off x="1463040" y="1965960"/>
            <a:ext cx="9875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4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다국어 인터링구아 확장 — 여러 언어를 공통 의미표현으로 사상하여 교차언어 탐지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4365C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6112" y="3054096"/>
            <a:ext cx="310896" cy="310896"/>
          </a:xfrm>
          <a:prstGeom prst="ellipse">
            <a:avLst/>
          </a:prstGeom>
          <a:solidFill>
            <a:srgbClr val="B98B34"/>
          </a:solidFill>
          <a:ln/>
        </p:spPr>
      </p:sp>
      <p:sp>
        <p:nvSpPr>
          <p:cNvPr id="10" name="Text 8"/>
          <p:cNvSpPr/>
          <p:nvPr/>
        </p:nvSpPr>
        <p:spPr>
          <a:xfrm>
            <a:off x="1463040" y="2834640"/>
            <a:ext cx="9875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4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고차수(q-ary) 캐리어 및 다양한 오류정정부호로의 확장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640080" y="370332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4365C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3922776"/>
            <a:ext cx="310896" cy="310896"/>
          </a:xfrm>
          <a:prstGeom prst="ellipse">
            <a:avLst/>
          </a:prstGeom>
          <a:solidFill>
            <a:srgbClr val="B98B34"/>
          </a:solidFill>
          <a:ln/>
        </p:spPr>
      </p:sp>
      <p:sp>
        <p:nvSpPr>
          <p:cNvPr id="13" name="Text 11"/>
          <p:cNvSpPr/>
          <p:nvPr/>
        </p:nvSpPr>
        <p:spPr>
          <a:xfrm>
            <a:off x="1463040" y="3703320"/>
            <a:ext cx="9875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4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워터마크(예: 통계적 방식)와의 계층적 결합(저용량 구간 폴백)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749808"/>
          </a:xfrm>
          <a:prstGeom prst="roundRect">
            <a:avLst>
              <a:gd name="adj" fmla="val 8537"/>
            </a:avLst>
          </a:prstGeom>
          <a:solidFill>
            <a:srgbClr val="24365C"/>
          </a:solidFill>
          <a:ln w="12700">
            <a:solidFill>
              <a:srgbClr val="3E5C8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96112" y="4791456"/>
            <a:ext cx="310896" cy="310896"/>
          </a:xfrm>
          <a:prstGeom prst="ellipse">
            <a:avLst/>
          </a:prstGeom>
          <a:solidFill>
            <a:srgbClr val="B98B34"/>
          </a:solidFill>
          <a:ln/>
        </p:spPr>
      </p:sp>
      <p:sp>
        <p:nvSpPr>
          <p:cNvPr id="16" name="Text 14"/>
          <p:cNvSpPr/>
          <p:nvPr/>
        </p:nvSpPr>
        <p:spPr>
          <a:xfrm>
            <a:off x="1463040" y="4572000"/>
            <a:ext cx="9875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E4ED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분야 — LLM 서비스 출처표시, 문서 진본성 검증, 규제(EU AI Act) 준수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623560"/>
            <a:ext cx="10881360" cy="640080"/>
          </a:xfrm>
          <a:prstGeom prst="roundRect">
            <a:avLst>
              <a:gd name="adj" fmla="val 11429"/>
            </a:avLst>
          </a:prstGeom>
          <a:solidFill>
            <a:srgbClr val="24365C"/>
          </a:solidFill>
          <a:ln w="12700">
            <a:solidFill>
              <a:srgbClr val="B98B3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623560"/>
            <a:ext cx="10241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7D5E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발명은 상기 실시례에 한정되지 않으며, 청구범위는 변리사 검토를 거쳐 확정된다.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Truthprint 특허 출원 발명 설명 자료</dc:title>
  <dc:subject>PptxGenJS Presentation</dc:subject>
  <dc:creator>Truthprint</dc:creator>
  <cp:lastModifiedBy>Truthprint</cp:lastModifiedBy>
  <cp:revision>1</cp:revision>
  <dcterms:created xsi:type="dcterms:W3CDTF">2026-07-23T00:04:08Z</dcterms:created>
  <dcterms:modified xsi:type="dcterms:W3CDTF">2026-07-23T00:04:08Z</dcterms:modified>
</cp:coreProperties>
</file>